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c61fb1bc-24bc-d0a6-5ecd-68d0da8feae1}">
          <p14:sldIdLst>
            <p14:sldId id="256"/>
            <p14:sldId id="257"/>
            <p14:sldId id="258"/>
          </p14:sldIdLst>
        </p14:section>
        <p14:section name="How it works" id="{97c30c4e-c789-b7e8-290d-883cc47f86ce}">
          <p14:sldIdLst>
            <p14:sldId id="259"/>
            <p14:sldId id="260"/>
            <p14:sldId id="261"/>
          </p14:sldIdLst>
        </p14:section>
        <p14:section name="Demo and results" id="{9ff9cc66-3dcf-114b-9290-f9bf1cc5932c}">
          <p14:sldIdLst>
            <p14:sldId id="262"/>
            <p14:sldId id="263"/>
            <p14:sldId id="264"/>
          </p14:sldIdLst>
        </p14:section>
        <p14:section name="Project" id="{5cfbce8f-bd31-d8b3-665d-f634f68bcd42}">
          <p14:sldIdLst>
            <p14:sldId id="265"/>
            <p14:sldId id="266"/>
            <p14:sldId id="267"/>
            <p14:sldId id="268"/>
            <p14:sldId id="269"/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BugLens takes a public GitHub repository, a screenshot of a bug and one sentence, and returns an issue draft, the most likely files, a contributor brief and similar existing issues.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Many reports start as a screenshot and one line. Three jobs have to be done before anyone can fix it, and they fall on volunteer maintainers.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inputs, four outputs. BugLens finds likely files. It does not fix the bug, and everything it produces is a suggestion to verify.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Stages 5, 7 and 8 are the only Gemma calls. Everything else is local code or the GitHub API. A JSON repair or a backoff retry repeats a stage; it does not add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Retrieval combines three signals per file. The weights are named constants in buglens/config.py.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guarantees come from code, not from asking the model nicely. Each of these is covered by an offline test.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real, already-fixed bug replayed at the commit before the fix, so BugLens cannot see the answer. The pull request that fixed it changed exactly the file BugLens ranked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draft follows File Browser's own Bug Report form. Labels are real labels of that repository. Unknown details stay as [please confirm].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harness replays already-fixed issues. No numbers are shown here until the evaluation has been run on the team's real cases.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Gemma 4 does three jobs. A small MIT-licensed embedding model runs locally. No model was trained or fine-tuned.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decision keeps the tool small, cheap to run on free API tiers, and explainable by the team.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offline suite uses a fake model, a fake embedder and a tiny fixture repository. Two scripts cover the live path.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four happened while building BugLens. Add the team's own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 in the names. Each contribution line must describe what that person actually did.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Being clear about limits is part of the design: BugLens gives suggestions to verify.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the TODO links before presenting. BugLens is MIT licensed.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_TITLE">
    <p:bg>
      <p:bgPr>
        <a:solidFill>
          <a:srgbClr val="1226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676656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6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_CLOSING">
    <p:bg>
      <p:bgPr>
        <a:solidFill>
          <a:srgbClr val="1226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097280"/>
            <a:ext cx="1069848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BugLens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6766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600" b="1" dirty="0">
                <a:solidFill>
                  <a:schemeClr val="bg1"/>
                </a:solidFill>
              </a:rPr>
              <a:t>BugLens</a:t>
            </a:r>
            <a:endParaRPr lang="en-US" sz="6600" dirty="0"/>
          </a:p>
        </p:txBody>
      </p:sp>
      <p:sp>
        <p:nvSpPr>
          <p:cNvPr id="3" name="Tagline"/>
          <p:cNvSpPr txBox="1"/>
          <p:nvPr/>
        </p:nvSpPr>
        <p:spPr>
          <a:xfrm>
            <a:off x="731520" y="315468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chemeClr val="accent2"/>
                </a:solidFill>
              </a:rPr>
              <a:t>From a bug screenshot to the right file</a:t>
            </a:r>
            <a:endParaRPr lang="en-US" sz="2800" dirty="0"/>
          </a:p>
        </p:txBody>
      </p:sp>
      <p:sp>
        <p:nvSpPr>
          <p:cNvPr id="4" name="Event"/>
          <p:cNvSpPr txBox="1"/>
          <p:nvPr/>
        </p:nvSpPr>
        <p:spPr>
          <a:xfrm>
            <a:off x="731520" y="411480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Hacktoberfest Hack Day Coimbatore 2026</a:t>
            </a:r>
            <a:endParaRPr lang="en-US" sz="1800" dirty="0"/>
          </a:p>
        </p:txBody>
      </p:sp>
      <p:sp>
        <p:nvSpPr>
          <p:cNvPr id="5" name="Built with"/>
          <p:cNvSpPr txBox="1"/>
          <p:nvPr/>
        </p:nvSpPr>
        <p:spPr>
          <a:xfrm>
            <a:off x="731520" y="452628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Built with Gemma 4 and open-source embeddings</a:t>
            </a:r>
            <a:endParaRPr lang="en-US" sz="1800" dirty="0"/>
          </a:p>
        </p:txBody>
      </p:sp>
      <p:sp>
        <p:nvSpPr>
          <p:cNvPr id="6" name="Team name"/>
          <p:cNvSpPr txBox="1"/>
          <p:nvPr/>
        </p:nvSpPr>
        <p:spPr>
          <a:xfrm>
            <a:off x="731520" y="525780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Team: [TODO: team name]</a:t>
            </a:r>
            <a:endParaRPr lang="en-US" sz="1600" dirty="0"/>
          </a:p>
        </p:txBody>
      </p:sp>
      <p:sp>
        <p:nvSpPr>
          <p:cNvPr id="7" name="File bar 1"/>
          <p:cNvSpPr/>
          <p:nvPr/>
        </p:nvSpPr>
        <p:spPr>
          <a:xfrm>
            <a:off x="7589520" y="1600200"/>
            <a:ext cx="3566160" cy="420624"/>
          </a:xfrm>
          <a:prstGeom prst="roundRect">
            <a:avLst>
              <a:gd name="adj" fmla="val 17391"/>
            </a:avLst>
          </a:prstGeom>
          <a:solidFill>
            <a:schemeClr val="tx2"/>
          </a:solidFill>
          <a:ln/>
        </p:spPr>
      </p:sp>
      <p:sp>
        <p:nvSpPr>
          <p:cNvPr id="8" name="File name 1"/>
          <p:cNvSpPr txBox="1"/>
          <p:nvPr/>
        </p:nvSpPr>
        <p:spPr>
          <a:xfrm>
            <a:off x="7772400" y="1600200"/>
            <a:ext cx="1600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upload.ts</a:t>
            </a:r>
            <a:endParaRPr lang="en-US" sz="1400" dirty="0"/>
          </a:p>
        </p:txBody>
      </p:sp>
      <p:sp>
        <p:nvSpPr>
          <p:cNvPr id="9" name="File bar 2"/>
          <p:cNvSpPr/>
          <p:nvPr/>
        </p:nvSpPr>
        <p:spPr>
          <a:xfrm>
            <a:off x="7589520" y="2203704"/>
            <a:ext cx="3566160" cy="420624"/>
          </a:xfrm>
          <a:prstGeom prst="roundRect">
            <a:avLst>
              <a:gd name="adj" fmla="val 17391"/>
            </a:avLst>
          </a:prstGeom>
          <a:solidFill>
            <a:schemeClr val="tx2"/>
          </a:solidFill>
          <a:ln/>
        </p:spPr>
      </p:sp>
      <p:sp>
        <p:nvSpPr>
          <p:cNvPr id="10" name="File name 2"/>
          <p:cNvSpPr txBox="1"/>
          <p:nvPr/>
        </p:nvSpPr>
        <p:spPr>
          <a:xfrm>
            <a:off x="7772400" y="2203704"/>
            <a:ext cx="1600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share.go</a:t>
            </a:r>
            <a:endParaRPr lang="en-US" sz="1400" dirty="0"/>
          </a:p>
        </p:txBody>
      </p:sp>
      <p:sp>
        <p:nvSpPr>
          <p:cNvPr id="11" name="File bar 3"/>
          <p:cNvSpPr/>
          <p:nvPr/>
        </p:nvSpPr>
        <p:spPr>
          <a:xfrm>
            <a:off x="7589520" y="2807208"/>
            <a:ext cx="3566160" cy="420624"/>
          </a:xfrm>
          <a:prstGeom prst="roundRect">
            <a:avLst>
              <a:gd name="adj" fmla="val 17391"/>
            </a:avLst>
          </a:prstGeom>
          <a:solidFill>
            <a:schemeClr val="accent2"/>
          </a:solidFill>
          <a:ln/>
        </p:spPr>
      </p:sp>
      <p:sp>
        <p:nvSpPr>
          <p:cNvPr id="12" name="File name 3"/>
          <p:cNvSpPr txBox="1"/>
          <p:nvPr/>
        </p:nvSpPr>
        <p:spPr>
          <a:xfrm>
            <a:off x="7772400" y="2807208"/>
            <a:ext cx="1600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epubReader.css</a:t>
            </a:r>
            <a:endParaRPr lang="en-US" sz="1400" dirty="0"/>
          </a:p>
        </p:txBody>
      </p:sp>
      <p:sp>
        <p:nvSpPr>
          <p:cNvPr id="13" name="File bar 4"/>
          <p:cNvSpPr/>
          <p:nvPr/>
        </p:nvSpPr>
        <p:spPr>
          <a:xfrm>
            <a:off x="7589520" y="3410712"/>
            <a:ext cx="3566160" cy="420624"/>
          </a:xfrm>
          <a:prstGeom prst="roundRect">
            <a:avLst>
              <a:gd name="adj" fmla="val 17391"/>
            </a:avLst>
          </a:prstGeom>
          <a:solidFill>
            <a:schemeClr val="tx2"/>
          </a:solidFill>
          <a:ln/>
        </p:spPr>
      </p:sp>
      <p:sp>
        <p:nvSpPr>
          <p:cNvPr id="14" name="File name 4"/>
          <p:cNvSpPr txBox="1"/>
          <p:nvPr/>
        </p:nvSpPr>
        <p:spPr>
          <a:xfrm>
            <a:off x="7772400" y="3410712"/>
            <a:ext cx="1600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styles.css</a:t>
            </a:r>
            <a:endParaRPr lang="en-US" sz="1400" dirty="0"/>
          </a:p>
        </p:txBody>
      </p:sp>
      <p:sp>
        <p:nvSpPr>
          <p:cNvPr id="15" name="File bar 5"/>
          <p:cNvSpPr/>
          <p:nvPr/>
        </p:nvSpPr>
        <p:spPr>
          <a:xfrm>
            <a:off x="7589520" y="4014216"/>
            <a:ext cx="3566160" cy="420624"/>
          </a:xfrm>
          <a:prstGeom prst="roundRect">
            <a:avLst>
              <a:gd name="adj" fmla="val 17391"/>
            </a:avLst>
          </a:prstGeom>
          <a:solidFill>
            <a:schemeClr val="tx2"/>
          </a:solidFill>
          <a:ln/>
        </p:spPr>
      </p:sp>
      <p:sp>
        <p:nvSpPr>
          <p:cNvPr id="16" name="File name 5"/>
          <p:cNvSpPr txBox="1"/>
          <p:nvPr/>
        </p:nvSpPr>
        <p:spPr>
          <a:xfrm>
            <a:off x="7772400" y="4014216"/>
            <a:ext cx="1600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file.go</a:t>
            </a:r>
            <a:endParaRPr lang="en-US" sz="1400" dirty="0"/>
          </a:p>
        </p:txBody>
      </p:sp>
      <p:sp>
        <p:nvSpPr>
          <p:cNvPr id="17" name="File bar 6"/>
          <p:cNvSpPr/>
          <p:nvPr/>
        </p:nvSpPr>
        <p:spPr>
          <a:xfrm>
            <a:off x="7589520" y="4617720"/>
            <a:ext cx="3566160" cy="420624"/>
          </a:xfrm>
          <a:prstGeom prst="roundRect">
            <a:avLst>
              <a:gd name="adj" fmla="val 17391"/>
            </a:avLst>
          </a:prstGeom>
          <a:solidFill>
            <a:schemeClr val="tx2"/>
          </a:solidFill>
          <a:ln/>
        </p:spPr>
      </p:sp>
      <p:sp>
        <p:nvSpPr>
          <p:cNvPr id="18" name="File name 6"/>
          <p:cNvSpPr txBox="1"/>
          <p:nvPr/>
        </p:nvSpPr>
        <p:spPr>
          <a:xfrm>
            <a:off x="7772400" y="4617720"/>
            <a:ext cx="1600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auth.go</a:t>
            </a:r>
            <a:endParaRPr lang="en-US" sz="1400" dirty="0"/>
          </a:p>
        </p:txBody>
      </p:sp>
      <p:sp>
        <p:nvSpPr>
          <p:cNvPr id="19" name="Lens ring"/>
          <p:cNvSpPr/>
          <p:nvPr/>
        </p:nvSpPr>
        <p:spPr>
          <a:xfrm>
            <a:off x="9464040" y="2194560"/>
            <a:ext cx="1645920" cy="1645920"/>
          </a:xfrm>
          <a:prstGeom prst="ellipse">
            <a:avLst/>
          </a:prstGeom>
          <a:solidFill>
            <a:srgbClr val="FFFFFF">
              <a:alpha val="0"/>
            </a:srgbClr>
          </a:solidFill>
          <a:ln w="63500">
            <a:solidFill>
              <a:schemeClr val="accent2"/>
            </a:solidFill>
            <a:prstDash val="solid"/>
          </a:ln>
        </p:spPr>
      </p:sp>
      <p:sp>
        <p:nvSpPr>
          <p:cNvPr id="20" name="Lens handle"/>
          <p:cNvSpPr/>
          <p:nvPr/>
        </p:nvSpPr>
        <p:spPr>
          <a:xfrm>
            <a:off x="10863072" y="3593592"/>
            <a:ext cx="685800" cy="685800"/>
          </a:xfrm>
          <a:prstGeom prst="line">
            <a:avLst/>
          </a:prstGeom>
          <a:noFill/>
          <a:ln w="88900">
            <a:solidFill>
              <a:schemeClr val="accent2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 bug report rarely arrives ready to work on</a:t>
            </a:r>
            <a:endParaRPr lang="en-US" sz="3600" dirty="0"/>
          </a:p>
        </p:txBody>
      </p:sp>
      <p:sp>
        <p:nvSpPr>
          <p:cNvPr id="4" name="Report card"/>
          <p:cNvSpPr/>
          <p:nvPr/>
        </p:nvSpPr>
        <p:spPr>
          <a:xfrm>
            <a:off x="548640" y="1554480"/>
            <a:ext cx="4389120" cy="3611880"/>
          </a:xfrm>
          <a:prstGeom prst="roundRect">
            <a:avLst>
              <a:gd name="adj" fmla="val 2532"/>
            </a:avLst>
          </a:prstGeom>
          <a:solidFill>
            <a:schemeClr val="bg2"/>
          </a:solidFill>
          <a:ln/>
        </p:spPr>
      </p:sp>
      <p:pic>
        <p:nvPicPr>
          <p:cNvPr id="5" name="Bug screenshot" descr="Screenshot from a real bug report: a menu icon drawn on top of a close icon in an EPUB view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810512"/>
            <a:ext cx="3840480" cy="2514600"/>
          </a:xfrm>
          <a:prstGeom prst="rect">
            <a:avLst/>
          </a:prstGeom>
        </p:spPr>
      </p:pic>
      <p:sp>
        <p:nvSpPr>
          <p:cNvPr id="6" name="Report caption"/>
          <p:cNvSpPr txBox="1"/>
          <p:nvPr/>
        </p:nvSpPr>
        <p:spPr>
          <a:xfrm>
            <a:off x="822960" y="44348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 real report: a small screenshot and one sentence.</a:t>
            </a:r>
            <a:endParaRPr lang="en-US" sz="1300" dirty="0"/>
          </a:p>
        </p:txBody>
      </p:sp>
      <p:sp>
        <p:nvSpPr>
          <p:cNvPr id="7" name="Report source"/>
          <p:cNvSpPr txBox="1"/>
          <p:nvPr/>
        </p:nvSpPr>
        <p:spPr>
          <a:xfrm>
            <a:off x="822960" y="472744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File Browser, issue #5974</a:t>
            </a:r>
            <a:endParaRPr lang="en-US" sz="1200" dirty="0"/>
          </a:p>
        </p:txBody>
      </p:sp>
      <p:sp>
        <p:nvSpPr>
          <p:cNvPr id="8" name="Job 1 circle"/>
          <p:cNvSpPr/>
          <p:nvPr/>
        </p:nvSpPr>
        <p:spPr>
          <a:xfrm>
            <a:off x="5486400" y="160020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Job 1 label"/>
          <p:cNvSpPr txBox="1"/>
          <p:nvPr/>
        </p:nvSpPr>
        <p:spPr>
          <a:xfrm>
            <a:off x="5486400" y="1600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10" name="Job 1 heading"/>
          <p:cNvSpPr txBox="1"/>
          <p:nvPr/>
        </p:nvSpPr>
        <p:spPr>
          <a:xfrm>
            <a:off x="6309360" y="1581912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Rewrite it</a:t>
            </a:r>
            <a:endParaRPr lang="en-US" sz="2200" dirty="0"/>
          </a:p>
        </p:txBody>
      </p:sp>
      <p:sp>
        <p:nvSpPr>
          <p:cNvPr id="11" name="Job 1 text"/>
          <p:cNvSpPr txBox="1"/>
          <p:nvPr/>
        </p:nvSpPr>
        <p:spPr>
          <a:xfrm>
            <a:off x="6309360" y="2002536"/>
            <a:ext cx="5303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Turn it into the project's issue template and ask the reporter for what is missing.</a:t>
            </a:r>
            <a:endParaRPr lang="en-US" sz="1500" dirty="0"/>
          </a:p>
        </p:txBody>
      </p:sp>
      <p:sp>
        <p:nvSpPr>
          <p:cNvPr id="12" name="Job 2 circle"/>
          <p:cNvSpPr/>
          <p:nvPr/>
        </p:nvSpPr>
        <p:spPr>
          <a:xfrm>
            <a:off x="5486400" y="2807208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Job 2 label"/>
          <p:cNvSpPr txBox="1"/>
          <p:nvPr/>
        </p:nvSpPr>
        <p:spPr>
          <a:xfrm>
            <a:off x="5486400" y="28072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4" name="Job 2 heading"/>
          <p:cNvSpPr txBox="1"/>
          <p:nvPr/>
        </p:nvSpPr>
        <p:spPr>
          <a:xfrm>
            <a:off x="6309360" y="2788920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Locate it</a:t>
            </a:r>
            <a:endParaRPr lang="en-US" sz="2200" dirty="0"/>
          </a:p>
        </p:txBody>
      </p:sp>
      <p:sp>
        <p:nvSpPr>
          <p:cNvPr id="15" name="Job 2 text"/>
          <p:cNvSpPr txBox="1"/>
          <p:nvPr/>
        </p:nvSpPr>
        <p:spPr>
          <a:xfrm>
            <a:off x="6309360" y="3209544"/>
            <a:ext cx="5303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Work out which of hundreds of files is probably involved.</a:t>
            </a:r>
            <a:endParaRPr lang="en-US" sz="1500" dirty="0"/>
          </a:p>
        </p:txBody>
      </p:sp>
      <p:sp>
        <p:nvSpPr>
          <p:cNvPr id="16" name="Job 3 circle"/>
          <p:cNvSpPr/>
          <p:nvPr/>
        </p:nvSpPr>
        <p:spPr>
          <a:xfrm>
            <a:off x="5486400" y="401421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Job 3 label"/>
          <p:cNvSpPr txBox="1"/>
          <p:nvPr/>
        </p:nvSpPr>
        <p:spPr>
          <a:xfrm>
            <a:off x="5486400" y="40142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8" name="Job 3 heading"/>
          <p:cNvSpPr txBox="1"/>
          <p:nvPr/>
        </p:nvSpPr>
        <p:spPr>
          <a:xfrm>
            <a:off x="6309360" y="3995928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Hand it over</a:t>
            </a:r>
            <a:endParaRPr lang="en-US" sz="2200" dirty="0"/>
          </a:p>
        </p:txBody>
      </p:sp>
      <p:sp>
        <p:nvSpPr>
          <p:cNvPr id="19" name="Job 3 text"/>
          <p:cNvSpPr txBox="1"/>
          <p:nvPr/>
        </p:nvSpPr>
        <p:spPr>
          <a:xfrm>
            <a:off x="6309360" y="4416552"/>
            <a:ext cx="5303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Give a newcomer enough orientation to know where to start reading.</a:t>
            </a:r>
            <a:endParaRPr lang="en-US" sz="1500" dirty="0"/>
          </a:p>
        </p:txBody>
      </p:sp>
      <p:sp>
        <p:nvSpPr>
          <p:cNvPr id="20" name="Problem takeaway"/>
          <p:cNvSpPr txBox="1"/>
          <p:nvPr/>
        </p:nvSpPr>
        <p:spPr>
          <a:xfrm>
            <a:off x="548640" y="55321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chemeClr val="tx2"/>
                </a:solidFill>
              </a:rPr>
              <a:t>This work falls on volunteer maintainers, and it is where many first-time contributors stop.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One screenshot in, four things out</a:t>
            </a:r>
            <a:endParaRPr lang="en-US" sz="3600" dirty="0"/>
          </a:p>
        </p:txBody>
      </p:sp>
      <p:sp>
        <p:nvSpPr>
          <p:cNvPr id="4" name="Input 1 card"/>
          <p:cNvSpPr/>
          <p:nvPr/>
        </p:nvSpPr>
        <p:spPr>
          <a:xfrm>
            <a:off x="548640" y="1965960"/>
            <a:ext cx="301752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/>
        </p:spPr>
      </p:sp>
      <p:sp>
        <p:nvSpPr>
          <p:cNvPr id="5" name="Input 1 heading"/>
          <p:cNvSpPr txBox="1"/>
          <p:nvPr/>
        </p:nvSpPr>
        <p:spPr>
          <a:xfrm>
            <a:off x="777240" y="2093976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Repository URL</a:t>
            </a:r>
            <a:endParaRPr lang="en-US" sz="1700" dirty="0"/>
          </a:p>
        </p:txBody>
      </p:sp>
      <p:sp>
        <p:nvSpPr>
          <p:cNvPr id="6" name="Input 1 detail"/>
          <p:cNvSpPr txBox="1"/>
          <p:nvPr/>
        </p:nvSpPr>
        <p:spPr>
          <a:xfrm>
            <a:off x="777240" y="24231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any public GitHub repo</a:t>
            </a:r>
            <a:endParaRPr lang="en-US" sz="1300" dirty="0"/>
          </a:p>
        </p:txBody>
      </p:sp>
      <p:sp>
        <p:nvSpPr>
          <p:cNvPr id="7" name="Input 2 card"/>
          <p:cNvSpPr/>
          <p:nvPr/>
        </p:nvSpPr>
        <p:spPr>
          <a:xfrm>
            <a:off x="548640" y="3063240"/>
            <a:ext cx="301752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/>
        </p:spPr>
      </p:sp>
      <p:sp>
        <p:nvSpPr>
          <p:cNvPr id="8" name="Input 2 heading"/>
          <p:cNvSpPr txBox="1"/>
          <p:nvPr/>
        </p:nvSpPr>
        <p:spPr>
          <a:xfrm>
            <a:off x="777240" y="3191256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Bug screenshot</a:t>
            </a:r>
            <a:endParaRPr lang="en-US" sz="1700" dirty="0"/>
          </a:p>
        </p:txBody>
      </p:sp>
      <p:sp>
        <p:nvSpPr>
          <p:cNvPr id="9" name="Input 2 detail"/>
          <p:cNvSpPr txBox="1"/>
          <p:nvPr/>
        </p:nvSpPr>
        <p:spPr>
          <a:xfrm>
            <a:off x="777240" y="35204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PNG, JPG or WebP</a:t>
            </a:r>
            <a:endParaRPr lang="en-US" sz="1300" dirty="0"/>
          </a:p>
        </p:txBody>
      </p:sp>
      <p:sp>
        <p:nvSpPr>
          <p:cNvPr id="10" name="Input 3 card"/>
          <p:cNvSpPr/>
          <p:nvPr/>
        </p:nvSpPr>
        <p:spPr>
          <a:xfrm>
            <a:off x="548640" y="4160520"/>
            <a:ext cx="301752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/>
        </p:spPr>
      </p:sp>
      <p:sp>
        <p:nvSpPr>
          <p:cNvPr id="11" name="Input 3 heading"/>
          <p:cNvSpPr txBox="1"/>
          <p:nvPr/>
        </p:nvSpPr>
        <p:spPr>
          <a:xfrm>
            <a:off x="777240" y="4288536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One sentence</a:t>
            </a:r>
            <a:endParaRPr lang="en-US" sz="1700" dirty="0"/>
          </a:p>
        </p:txBody>
      </p:sp>
      <p:sp>
        <p:nvSpPr>
          <p:cNvPr id="12" name="Input 3 detail"/>
          <p:cNvSpPr txBox="1"/>
          <p:nvPr/>
        </p:nvSpPr>
        <p:spPr>
          <a:xfrm>
            <a:off x="777240" y="46177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what went wrong</a:t>
            </a:r>
            <a:endParaRPr lang="en-US" sz="1300" dirty="0"/>
          </a:p>
        </p:txBody>
      </p:sp>
      <p:sp>
        <p:nvSpPr>
          <p:cNvPr id="13" name="Arrow in"/>
          <p:cNvSpPr/>
          <p:nvPr/>
        </p:nvSpPr>
        <p:spPr>
          <a:xfrm>
            <a:off x="3931920" y="3383280"/>
            <a:ext cx="685800" cy="219456"/>
          </a:xfrm>
          <a:prstGeom prst="rightArrow">
            <a:avLst/>
          </a:prstGeom>
          <a:solidFill>
            <a:schemeClr val="accent5"/>
          </a:solidFill>
          <a:ln/>
        </p:spPr>
      </p:sp>
      <p:sp>
        <p:nvSpPr>
          <p:cNvPr id="14" name="BugLens circle"/>
          <p:cNvSpPr/>
          <p:nvPr/>
        </p:nvSpPr>
        <p:spPr>
          <a:xfrm>
            <a:off x="4983480" y="2377440"/>
            <a:ext cx="2240280" cy="224028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5" name="BugLens label"/>
          <p:cNvSpPr txBox="1"/>
          <p:nvPr/>
        </p:nvSpPr>
        <p:spPr>
          <a:xfrm>
            <a:off x="4983480" y="30175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BugLens</a:t>
            </a:r>
            <a:endParaRPr lang="en-US" sz="2400" dirty="0"/>
          </a:p>
        </p:txBody>
      </p:sp>
      <p:sp>
        <p:nvSpPr>
          <p:cNvPr id="16" name="BugLens detail"/>
          <p:cNvSpPr txBox="1"/>
          <p:nvPr/>
        </p:nvSpPr>
        <p:spPr>
          <a:xfrm>
            <a:off x="4983480" y="35204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Gemma 4 + local search</a:t>
            </a:r>
            <a:endParaRPr lang="en-US" sz="1200" dirty="0"/>
          </a:p>
        </p:txBody>
      </p:sp>
      <p:sp>
        <p:nvSpPr>
          <p:cNvPr id="17" name="Arrow out"/>
          <p:cNvSpPr/>
          <p:nvPr/>
        </p:nvSpPr>
        <p:spPr>
          <a:xfrm>
            <a:off x="7589520" y="3383280"/>
            <a:ext cx="685800" cy="219456"/>
          </a:xfrm>
          <a:prstGeom prst="rightArrow">
            <a:avLst/>
          </a:prstGeom>
          <a:solidFill>
            <a:schemeClr val="accent5"/>
          </a:solidFill>
          <a:ln/>
        </p:spPr>
      </p:sp>
      <p:sp>
        <p:nvSpPr>
          <p:cNvPr id="18" name="Output 1 card"/>
          <p:cNvSpPr/>
          <p:nvPr/>
        </p:nvSpPr>
        <p:spPr>
          <a:xfrm>
            <a:off x="8641080" y="1554480"/>
            <a:ext cx="2999232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/>
        </p:spPr>
      </p:sp>
      <p:sp>
        <p:nvSpPr>
          <p:cNvPr id="19" name="Output 1 heading"/>
          <p:cNvSpPr txBox="1"/>
          <p:nvPr/>
        </p:nvSpPr>
        <p:spPr>
          <a:xfrm>
            <a:off x="8823960" y="164592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Issue draft</a:t>
            </a:r>
            <a:endParaRPr lang="en-US" sz="1600" dirty="0"/>
          </a:p>
        </p:txBody>
      </p:sp>
      <p:sp>
        <p:nvSpPr>
          <p:cNvPr id="20" name="Output 1 detail"/>
          <p:cNvSpPr txBox="1"/>
          <p:nvPr/>
        </p:nvSpPr>
        <p:spPr>
          <a:xfrm>
            <a:off x="8823960" y="1947672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In the repo's own template, with its real labels</a:t>
            </a:r>
            <a:endParaRPr lang="en-US" sz="1300" dirty="0"/>
          </a:p>
        </p:txBody>
      </p:sp>
      <p:sp>
        <p:nvSpPr>
          <p:cNvPr id="21" name="Output 2 card"/>
          <p:cNvSpPr/>
          <p:nvPr/>
        </p:nvSpPr>
        <p:spPr>
          <a:xfrm>
            <a:off x="8641080" y="2651760"/>
            <a:ext cx="2999232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/>
        </p:spPr>
      </p:sp>
      <p:sp>
        <p:nvSpPr>
          <p:cNvPr id="22" name="Output 2 heading"/>
          <p:cNvSpPr txBox="1"/>
          <p:nvPr/>
        </p:nvSpPr>
        <p:spPr>
          <a:xfrm>
            <a:off x="8823960" y="274320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Suspected files</a:t>
            </a:r>
            <a:endParaRPr lang="en-US" sz="1600" dirty="0"/>
          </a:p>
        </p:txBody>
      </p:sp>
      <p:sp>
        <p:nvSpPr>
          <p:cNvPr id="23" name="Output 2 detail"/>
          <p:cNvSpPr txBox="1"/>
          <p:nvPr/>
        </p:nvSpPr>
        <p:spPr>
          <a:xfrm>
            <a:off x="8823960" y="3044952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Top 5 with reason, confidence and code evidence</a:t>
            </a:r>
            <a:endParaRPr lang="en-US" sz="1300" dirty="0"/>
          </a:p>
        </p:txBody>
      </p:sp>
      <p:sp>
        <p:nvSpPr>
          <p:cNvPr id="24" name="Output 3 card"/>
          <p:cNvSpPr/>
          <p:nvPr/>
        </p:nvSpPr>
        <p:spPr>
          <a:xfrm>
            <a:off x="8641080" y="3749040"/>
            <a:ext cx="2999232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/>
        </p:spPr>
      </p:sp>
      <p:sp>
        <p:nvSpPr>
          <p:cNvPr id="25" name="Output 3 heading"/>
          <p:cNvSpPr txBox="1"/>
          <p:nvPr/>
        </p:nvSpPr>
        <p:spPr>
          <a:xfrm>
            <a:off x="8823960" y="384048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Contributor brief</a:t>
            </a:r>
            <a:endParaRPr lang="en-US" sz="1600" dirty="0"/>
          </a:p>
        </p:txBody>
      </p:sp>
      <p:sp>
        <p:nvSpPr>
          <p:cNvPr id="26" name="Output 3 detail"/>
          <p:cNvSpPr txBox="1"/>
          <p:nvPr/>
        </p:nvSpPr>
        <p:spPr>
          <a:xfrm>
            <a:off x="8823960" y="4142232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Plain language: where to start, how to verify</a:t>
            </a:r>
            <a:endParaRPr lang="en-US" sz="1300" dirty="0"/>
          </a:p>
        </p:txBody>
      </p:sp>
      <p:sp>
        <p:nvSpPr>
          <p:cNvPr id="27" name="Output 4 card"/>
          <p:cNvSpPr/>
          <p:nvPr/>
        </p:nvSpPr>
        <p:spPr>
          <a:xfrm>
            <a:off x="8641080" y="4846320"/>
            <a:ext cx="2999232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/>
        </p:spPr>
      </p:sp>
      <p:sp>
        <p:nvSpPr>
          <p:cNvPr id="28" name="Output 4 heading"/>
          <p:cNvSpPr txBox="1"/>
          <p:nvPr/>
        </p:nvSpPr>
        <p:spPr>
          <a:xfrm>
            <a:off x="8823960" y="493776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Similar issues</a:t>
            </a:r>
            <a:endParaRPr lang="en-US" sz="1600" dirty="0"/>
          </a:p>
        </p:txBody>
      </p:sp>
      <p:sp>
        <p:nvSpPr>
          <p:cNvPr id="29" name="Output 4 detail"/>
          <p:cNvSpPr txBox="1"/>
          <p:nvPr/>
        </p:nvSpPr>
        <p:spPr>
          <a:xfrm>
            <a:off x="8823960" y="5239512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Possible duplicates, found before filing</a:t>
            </a:r>
            <a:endParaRPr lang="en-US" sz="1300" dirty="0"/>
          </a:p>
        </p:txBody>
      </p:sp>
      <p:sp>
        <p:nvSpPr>
          <p:cNvPr id="30" name="Scope note"/>
          <p:cNvSpPr txBox="1"/>
          <p:nvPr/>
        </p:nvSpPr>
        <p:spPr>
          <a:xfrm>
            <a:off x="548640" y="5715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chemeClr val="tx2"/>
                </a:solidFill>
              </a:rPr>
              <a:t>It finds likely files. It does not fix the bug.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The pipeline: nine stages, three model calls</a:t>
            </a:r>
            <a:endParaRPr lang="en-US" sz="3600" dirty="0"/>
          </a:p>
        </p:txBody>
      </p:sp>
      <p:sp>
        <p:nvSpPr>
          <p:cNvPr id="4" name="Stage 1 card"/>
          <p:cNvSpPr/>
          <p:nvPr/>
        </p:nvSpPr>
        <p:spPr>
          <a:xfrm>
            <a:off x="548640" y="1600200"/>
            <a:ext cx="196596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5" name="Stage 1 circle"/>
          <p:cNvSpPr/>
          <p:nvPr/>
        </p:nvSpPr>
        <p:spPr>
          <a:xfrm>
            <a:off x="685800" y="1737360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Stage 1 label"/>
          <p:cNvSpPr txBox="1"/>
          <p:nvPr/>
        </p:nvSpPr>
        <p:spPr>
          <a:xfrm>
            <a:off x="685800" y="1737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Stage 1 heading"/>
          <p:cNvSpPr txBox="1"/>
          <p:nvPr/>
        </p:nvSpPr>
        <p:spPr>
          <a:xfrm>
            <a:off x="685800" y="222199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Resolve commit</a:t>
            </a:r>
            <a:endParaRPr lang="en-US" sz="1500" dirty="0"/>
          </a:p>
        </p:txBody>
      </p:sp>
      <p:sp>
        <p:nvSpPr>
          <p:cNvPr id="8" name="Stage 1 detail"/>
          <p:cNvSpPr txBox="1"/>
          <p:nvPr/>
        </p:nvSpPr>
        <p:spPr>
          <a:xfrm>
            <a:off x="685800" y="2505456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Branch or ref to a commit SHA</a:t>
            </a:r>
            <a:endParaRPr lang="en-US" sz="1200" dirty="0"/>
          </a:p>
        </p:txBody>
      </p:sp>
      <p:sp>
        <p:nvSpPr>
          <p:cNvPr id="9" name="Stage 1 arrow"/>
          <p:cNvSpPr/>
          <p:nvPr/>
        </p:nvSpPr>
        <p:spPr>
          <a:xfrm>
            <a:off x="2560320" y="2176272"/>
            <a:ext cx="219456" cy="219456"/>
          </a:xfrm>
          <a:prstGeom prst="rightArrow">
            <a:avLst/>
          </a:prstGeom>
          <a:solidFill>
            <a:schemeClr val="accent5"/>
          </a:solidFill>
          <a:ln/>
        </p:spPr>
      </p:sp>
      <p:sp>
        <p:nvSpPr>
          <p:cNvPr id="10" name="Stage 2 card"/>
          <p:cNvSpPr/>
          <p:nvPr/>
        </p:nvSpPr>
        <p:spPr>
          <a:xfrm>
            <a:off x="2830068" y="1600200"/>
            <a:ext cx="196596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11" name="Stage 2 circle"/>
          <p:cNvSpPr/>
          <p:nvPr/>
        </p:nvSpPr>
        <p:spPr>
          <a:xfrm>
            <a:off x="2967228" y="1737360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Stage 2 label"/>
          <p:cNvSpPr txBox="1"/>
          <p:nvPr/>
        </p:nvSpPr>
        <p:spPr>
          <a:xfrm>
            <a:off x="2967228" y="1737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Stage 2 heading"/>
          <p:cNvSpPr txBox="1"/>
          <p:nvPr/>
        </p:nvSpPr>
        <p:spPr>
          <a:xfrm>
            <a:off x="2967228" y="222199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Download repo</a:t>
            </a:r>
            <a:endParaRPr lang="en-US" sz="1500" dirty="0"/>
          </a:p>
        </p:txBody>
      </p:sp>
      <p:sp>
        <p:nvSpPr>
          <p:cNvPr id="14" name="Stage 2 detail"/>
          <p:cNvSpPr txBox="1"/>
          <p:nvPr/>
        </p:nvSpPr>
        <p:spPr>
          <a:xfrm>
            <a:off x="2967228" y="2505456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GitHub zipball, filtered</a:t>
            </a:r>
            <a:endParaRPr lang="en-US" sz="1200" dirty="0"/>
          </a:p>
        </p:txBody>
      </p:sp>
      <p:sp>
        <p:nvSpPr>
          <p:cNvPr id="15" name="Stage 2 arrow"/>
          <p:cNvSpPr/>
          <p:nvPr/>
        </p:nvSpPr>
        <p:spPr>
          <a:xfrm>
            <a:off x="4841748" y="2176272"/>
            <a:ext cx="219456" cy="219456"/>
          </a:xfrm>
          <a:prstGeom prst="rightArrow">
            <a:avLst/>
          </a:prstGeom>
          <a:solidFill>
            <a:schemeClr val="accent5"/>
          </a:solidFill>
          <a:ln/>
        </p:spPr>
      </p:sp>
      <p:sp>
        <p:nvSpPr>
          <p:cNvPr id="16" name="Stage 3 card"/>
          <p:cNvSpPr/>
          <p:nvPr/>
        </p:nvSpPr>
        <p:spPr>
          <a:xfrm>
            <a:off x="5111496" y="1600200"/>
            <a:ext cx="196596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17" name="Stage 3 circle"/>
          <p:cNvSpPr/>
          <p:nvPr/>
        </p:nvSpPr>
        <p:spPr>
          <a:xfrm>
            <a:off x="5248656" y="1737360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8" name="Stage 3 label"/>
          <p:cNvSpPr txBox="1"/>
          <p:nvPr/>
        </p:nvSpPr>
        <p:spPr>
          <a:xfrm>
            <a:off x="5248656" y="1737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Stage 3 heading"/>
          <p:cNvSpPr txBox="1"/>
          <p:nvPr/>
        </p:nvSpPr>
        <p:spPr>
          <a:xfrm>
            <a:off x="5248656" y="222199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Read conventions</a:t>
            </a:r>
            <a:endParaRPr lang="en-US" sz="1500" dirty="0"/>
          </a:p>
        </p:txBody>
      </p:sp>
      <p:sp>
        <p:nvSpPr>
          <p:cNvPr id="20" name="Stage 3 detail"/>
          <p:cNvSpPr txBox="1"/>
          <p:nvPr/>
        </p:nvSpPr>
        <p:spPr>
          <a:xfrm>
            <a:off x="5248656" y="2505456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Issue template, labels, README</a:t>
            </a:r>
            <a:endParaRPr lang="en-US" sz="1200" dirty="0"/>
          </a:p>
        </p:txBody>
      </p:sp>
      <p:sp>
        <p:nvSpPr>
          <p:cNvPr id="21" name="Stage 3 arrow"/>
          <p:cNvSpPr/>
          <p:nvPr/>
        </p:nvSpPr>
        <p:spPr>
          <a:xfrm>
            <a:off x="7123176" y="2176272"/>
            <a:ext cx="219456" cy="219456"/>
          </a:xfrm>
          <a:prstGeom prst="rightArrow">
            <a:avLst/>
          </a:prstGeom>
          <a:solidFill>
            <a:schemeClr val="accent5"/>
          </a:solidFill>
          <a:ln/>
        </p:spPr>
      </p:sp>
      <p:sp>
        <p:nvSpPr>
          <p:cNvPr id="22" name="Stage 4 card"/>
          <p:cNvSpPr/>
          <p:nvPr/>
        </p:nvSpPr>
        <p:spPr>
          <a:xfrm>
            <a:off x="7392924" y="1600200"/>
            <a:ext cx="196596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23" name="Stage 4 circle"/>
          <p:cNvSpPr/>
          <p:nvPr/>
        </p:nvSpPr>
        <p:spPr>
          <a:xfrm>
            <a:off x="7530084" y="1737360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4" name="Stage 4 label"/>
          <p:cNvSpPr txBox="1"/>
          <p:nvPr/>
        </p:nvSpPr>
        <p:spPr>
          <a:xfrm>
            <a:off x="7530084" y="1737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5" name="Stage 4 heading"/>
          <p:cNvSpPr txBox="1"/>
          <p:nvPr/>
        </p:nvSpPr>
        <p:spPr>
          <a:xfrm>
            <a:off x="7530084" y="222199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Chunk and embed</a:t>
            </a:r>
            <a:endParaRPr lang="en-US" sz="1500" dirty="0"/>
          </a:p>
        </p:txBody>
      </p:sp>
      <p:sp>
        <p:nvSpPr>
          <p:cNvPr id="26" name="Stage 4 detail"/>
          <p:cNvSpPr txBox="1"/>
          <p:nvPr/>
        </p:nvSpPr>
        <p:spPr>
          <a:xfrm>
            <a:off x="7530084" y="2505456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60-line chunks, bge-small</a:t>
            </a:r>
            <a:endParaRPr lang="en-US" sz="1200" dirty="0"/>
          </a:p>
        </p:txBody>
      </p:sp>
      <p:sp>
        <p:nvSpPr>
          <p:cNvPr id="27" name="Stage 4 arrow"/>
          <p:cNvSpPr/>
          <p:nvPr/>
        </p:nvSpPr>
        <p:spPr>
          <a:xfrm>
            <a:off x="9404604" y="2176272"/>
            <a:ext cx="219456" cy="219456"/>
          </a:xfrm>
          <a:prstGeom prst="rightArrow">
            <a:avLst/>
          </a:prstGeom>
          <a:solidFill>
            <a:schemeClr val="accent5"/>
          </a:solidFill>
          <a:ln/>
        </p:spPr>
      </p:sp>
      <p:sp>
        <p:nvSpPr>
          <p:cNvPr id="28" name="Stage 5 card"/>
          <p:cNvSpPr/>
          <p:nvPr/>
        </p:nvSpPr>
        <p:spPr>
          <a:xfrm>
            <a:off x="9674352" y="1600200"/>
            <a:ext cx="1965960" cy="1371600"/>
          </a:xfrm>
          <a:prstGeom prst="roundRect">
            <a:avLst>
              <a:gd name="adj" fmla="val 6667"/>
            </a:avLst>
          </a:prstGeom>
          <a:solidFill>
            <a:schemeClr val="accent2"/>
          </a:solidFill>
          <a:ln/>
        </p:spPr>
      </p:sp>
      <p:sp>
        <p:nvSpPr>
          <p:cNvPr id="29" name="Stage 5 circle"/>
          <p:cNvSpPr/>
          <p:nvPr/>
        </p:nvSpPr>
        <p:spPr>
          <a:xfrm>
            <a:off x="9811512" y="1737360"/>
            <a:ext cx="402336" cy="402336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30" name="Stage 5 label"/>
          <p:cNvSpPr txBox="1"/>
          <p:nvPr/>
        </p:nvSpPr>
        <p:spPr>
          <a:xfrm>
            <a:off x="9811512" y="1737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31" name="Stage 5 heading"/>
          <p:cNvSpPr txBox="1"/>
          <p:nvPr/>
        </p:nvSpPr>
        <p:spPr>
          <a:xfrm>
            <a:off x="9811512" y="222199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See the screenshot</a:t>
            </a:r>
            <a:endParaRPr lang="en-US" sz="1500" dirty="0"/>
          </a:p>
        </p:txBody>
      </p:sp>
      <p:sp>
        <p:nvSpPr>
          <p:cNvPr id="32" name="Stage 5 detail"/>
          <p:cNvSpPr txBox="1"/>
          <p:nvPr/>
        </p:nvSpPr>
        <p:spPr>
          <a:xfrm>
            <a:off x="9811512" y="2505456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Gemma 4 vision, JSON out</a:t>
            </a:r>
            <a:endParaRPr lang="en-US" sz="1200" dirty="0"/>
          </a:p>
        </p:txBody>
      </p:sp>
      <p:sp>
        <p:nvSpPr>
          <p:cNvPr id="33" name="Stage 6 card"/>
          <p:cNvSpPr/>
          <p:nvPr/>
        </p:nvSpPr>
        <p:spPr>
          <a:xfrm>
            <a:off x="548640" y="3383280"/>
            <a:ext cx="196596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34" name="Stage 6 circle"/>
          <p:cNvSpPr/>
          <p:nvPr/>
        </p:nvSpPr>
        <p:spPr>
          <a:xfrm>
            <a:off x="685800" y="3520440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5" name="Stage 6 label"/>
          <p:cNvSpPr txBox="1"/>
          <p:nvPr/>
        </p:nvSpPr>
        <p:spPr>
          <a:xfrm>
            <a:off x="685800" y="35204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36" name="Stage 6 heading"/>
          <p:cNvSpPr txBox="1"/>
          <p:nvPr/>
        </p:nvSpPr>
        <p:spPr>
          <a:xfrm>
            <a:off x="685800" y="400507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Hybrid search</a:t>
            </a:r>
            <a:endParaRPr lang="en-US" sz="1500" dirty="0"/>
          </a:p>
        </p:txBody>
      </p:sp>
      <p:sp>
        <p:nvSpPr>
          <p:cNvPr id="37" name="Stage 6 detail"/>
          <p:cNvSpPr txBox="1"/>
          <p:nvPr/>
        </p:nvSpPr>
        <p:spPr>
          <a:xfrm>
            <a:off x="685800" y="4288536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Top 12 candidate files</a:t>
            </a:r>
            <a:endParaRPr lang="en-US" sz="1200" dirty="0"/>
          </a:p>
        </p:txBody>
      </p:sp>
      <p:sp>
        <p:nvSpPr>
          <p:cNvPr id="38" name="Stage 6 arrow"/>
          <p:cNvSpPr/>
          <p:nvPr/>
        </p:nvSpPr>
        <p:spPr>
          <a:xfrm>
            <a:off x="2560320" y="3959352"/>
            <a:ext cx="219456" cy="219456"/>
          </a:xfrm>
          <a:prstGeom prst="rightArrow">
            <a:avLst/>
          </a:prstGeom>
          <a:solidFill>
            <a:schemeClr val="accent5"/>
          </a:solidFill>
          <a:ln/>
        </p:spPr>
      </p:sp>
      <p:sp>
        <p:nvSpPr>
          <p:cNvPr id="39" name="Stage 7 card"/>
          <p:cNvSpPr/>
          <p:nvPr/>
        </p:nvSpPr>
        <p:spPr>
          <a:xfrm>
            <a:off x="2830068" y="3383280"/>
            <a:ext cx="1965960" cy="1371600"/>
          </a:xfrm>
          <a:prstGeom prst="roundRect">
            <a:avLst>
              <a:gd name="adj" fmla="val 6667"/>
            </a:avLst>
          </a:prstGeom>
          <a:solidFill>
            <a:schemeClr val="accent2"/>
          </a:solidFill>
          <a:ln/>
        </p:spPr>
      </p:sp>
      <p:sp>
        <p:nvSpPr>
          <p:cNvPr id="40" name="Stage 7 circle"/>
          <p:cNvSpPr/>
          <p:nvPr/>
        </p:nvSpPr>
        <p:spPr>
          <a:xfrm>
            <a:off x="2967228" y="3520440"/>
            <a:ext cx="402336" cy="402336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41" name="Stage 7 label"/>
          <p:cNvSpPr txBox="1"/>
          <p:nvPr/>
        </p:nvSpPr>
        <p:spPr>
          <a:xfrm>
            <a:off x="2967228" y="35204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7</a:t>
            </a:r>
            <a:endParaRPr lang="en-US" sz="1400" dirty="0"/>
          </a:p>
        </p:txBody>
      </p:sp>
      <p:sp>
        <p:nvSpPr>
          <p:cNvPr id="42" name="Stage 7 heading"/>
          <p:cNvSpPr txBox="1"/>
          <p:nvPr/>
        </p:nvSpPr>
        <p:spPr>
          <a:xfrm>
            <a:off x="2967228" y="400507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Rank files</a:t>
            </a:r>
            <a:endParaRPr lang="en-US" sz="1500" dirty="0"/>
          </a:p>
        </p:txBody>
      </p:sp>
      <p:sp>
        <p:nvSpPr>
          <p:cNvPr id="43" name="Stage 7 detail"/>
          <p:cNvSpPr txBox="1"/>
          <p:nvPr/>
        </p:nvSpPr>
        <p:spPr>
          <a:xfrm>
            <a:off x="2967228" y="4288536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Gemma 4 picks up to 5</a:t>
            </a:r>
            <a:endParaRPr lang="en-US" sz="1200" dirty="0"/>
          </a:p>
        </p:txBody>
      </p:sp>
      <p:sp>
        <p:nvSpPr>
          <p:cNvPr id="44" name="Stage 7 arrow"/>
          <p:cNvSpPr/>
          <p:nvPr/>
        </p:nvSpPr>
        <p:spPr>
          <a:xfrm>
            <a:off x="4841748" y="3959352"/>
            <a:ext cx="219456" cy="219456"/>
          </a:xfrm>
          <a:prstGeom prst="rightArrow">
            <a:avLst/>
          </a:prstGeom>
          <a:solidFill>
            <a:schemeClr val="accent5"/>
          </a:solidFill>
          <a:ln/>
        </p:spPr>
      </p:sp>
      <p:sp>
        <p:nvSpPr>
          <p:cNvPr id="45" name="Stage 8 card"/>
          <p:cNvSpPr/>
          <p:nvPr/>
        </p:nvSpPr>
        <p:spPr>
          <a:xfrm>
            <a:off x="5111496" y="3383280"/>
            <a:ext cx="1965960" cy="1371600"/>
          </a:xfrm>
          <a:prstGeom prst="roundRect">
            <a:avLst>
              <a:gd name="adj" fmla="val 6667"/>
            </a:avLst>
          </a:prstGeom>
          <a:solidFill>
            <a:schemeClr val="accent2"/>
          </a:solidFill>
          <a:ln/>
        </p:spPr>
      </p:sp>
      <p:sp>
        <p:nvSpPr>
          <p:cNvPr id="46" name="Stage 8 circle"/>
          <p:cNvSpPr/>
          <p:nvPr/>
        </p:nvSpPr>
        <p:spPr>
          <a:xfrm>
            <a:off x="5248656" y="3520440"/>
            <a:ext cx="402336" cy="402336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47" name="Stage 8 label"/>
          <p:cNvSpPr txBox="1"/>
          <p:nvPr/>
        </p:nvSpPr>
        <p:spPr>
          <a:xfrm>
            <a:off x="5248656" y="35204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8</a:t>
            </a:r>
            <a:endParaRPr lang="en-US" sz="1400" dirty="0"/>
          </a:p>
        </p:txBody>
      </p:sp>
      <p:sp>
        <p:nvSpPr>
          <p:cNvPr id="48" name="Stage 8 heading"/>
          <p:cNvSpPr txBox="1"/>
          <p:nvPr/>
        </p:nvSpPr>
        <p:spPr>
          <a:xfrm>
            <a:off x="5248656" y="400507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Write</a:t>
            </a:r>
            <a:endParaRPr lang="en-US" sz="1500" dirty="0"/>
          </a:p>
        </p:txBody>
      </p:sp>
      <p:sp>
        <p:nvSpPr>
          <p:cNvPr id="49" name="Stage 8 detail"/>
          <p:cNvSpPr txBox="1"/>
          <p:nvPr/>
        </p:nvSpPr>
        <p:spPr>
          <a:xfrm>
            <a:off x="5248656" y="4288536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Issue draft and brief</a:t>
            </a:r>
            <a:endParaRPr lang="en-US" sz="1200" dirty="0"/>
          </a:p>
        </p:txBody>
      </p:sp>
      <p:sp>
        <p:nvSpPr>
          <p:cNvPr id="50" name="Stage 8 arrow"/>
          <p:cNvSpPr/>
          <p:nvPr/>
        </p:nvSpPr>
        <p:spPr>
          <a:xfrm>
            <a:off x="7123176" y="3959352"/>
            <a:ext cx="219456" cy="219456"/>
          </a:xfrm>
          <a:prstGeom prst="rightArrow">
            <a:avLst/>
          </a:prstGeom>
          <a:solidFill>
            <a:schemeClr val="accent5"/>
          </a:solidFill>
          <a:ln/>
        </p:spPr>
      </p:sp>
      <p:sp>
        <p:nvSpPr>
          <p:cNvPr id="51" name="Stage 9 card"/>
          <p:cNvSpPr/>
          <p:nvPr/>
        </p:nvSpPr>
        <p:spPr>
          <a:xfrm>
            <a:off x="7392924" y="3383280"/>
            <a:ext cx="196596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52" name="Stage 9 circle"/>
          <p:cNvSpPr/>
          <p:nvPr/>
        </p:nvSpPr>
        <p:spPr>
          <a:xfrm>
            <a:off x="7530084" y="3520440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3" name="Stage 9 label"/>
          <p:cNvSpPr txBox="1"/>
          <p:nvPr/>
        </p:nvSpPr>
        <p:spPr>
          <a:xfrm>
            <a:off x="7530084" y="35204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9</a:t>
            </a:r>
            <a:endParaRPr lang="en-US" sz="1400" dirty="0"/>
          </a:p>
        </p:txBody>
      </p:sp>
      <p:sp>
        <p:nvSpPr>
          <p:cNvPr id="54" name="Stage 9 heading"/>
          <p:cNvSpPr txBox="1"/>
          <p:nvPr/>
        </p:nvSpPr>
        <p:spPr>
          <a:xfrm>
            <a:off x="7530084" y="400507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Check duplicates</a:t>
            </a:r>
            <a:endParaRPr lang="en-US" sz="1500" dirty="0"/>
          </a:p>
        </p:txBody>
      </p:sp>
      <p:sp>
        <p:nvSpPr>
          <p:cNvPr id="55" name="Stage 9 detail"/>
          <p:cNvSpPr txBox="1"/>
          <p:nvPr/>
        </p:nvSpPr>
        <p:spPr>
          <a:xfrm>
            <a:off x="7530084" y="4288536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Similar existing issues</a:t>
            </a:r>
            <a:endParaRPr lang="en-US" sz="1200" dirty="0"/>
          </a:p>
        </p:txBody>
      </p:sp>
      <p:sp>
        <p:nvSpPr>
          <p:cNvPr id="56" name="Legend model swatch"/>
          <p:cNvSpPr/>
          <p:nvPr/>
        </p:nvSpPr>
        <p:spPr>
          <a:xfrm>
            <a:off x="9674352" y="3657600"/>
            <a:ext cx="292608" cy="292608"/>
          </a:xfrm>
          <a:prstGeom prst="roundRect">
            <a:avLst>
              <a:gd name="adj" fmla="val 15625"/>
            </a:avLst>
          </a:prstGeom>
          <a:solidFill>
            <a:schemeClr val="accent2"/>
          </a:solidFill>
          <a:ln/>
        </p:spPr>
      </p:sp>
      <p:sp>
        <p:nvSpPr>
          <p:cNvPr id="57" name="Legend model label"/>
          <p:cNvSpPr txBox="1"/>
          <p:nvPr/>
        </p:nvSpPr>
        <p:spPr>
          <a:xfrm>
            <a:off x="10085832" y="365760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Gemma 4 call</a:t>
            </a:r>
            <a:endParaRPr lang="en-US" sz="1300" dirty="0"/>
          </a:p>
        </p:txBody>
      </p:sp>
      <p:sp>
        <p:nvSpPr>
          <p:cNvPr id="58" name="Legend local swatch"/>
          <p:cNvSpPr/>
          <p:nvPr/>
        </p:nvSpPr>
        <p:spPr>
          <a:xfrm>
            <a:off x="9674352" y="4160520"/>
            <a:ext cx="292608" cy="292608"/>
          </a:xfrm>
          <a:prstGeom prst="roundRect">
            <a:avLst>
              <a:gd name="adj" fmla="val 15625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59" name="Legend local label"/>
          <p:cNvSpPr txBox="1"/>
          <p:nvPr/>
        </p:nvSpPr>
        <p:spPr>
          <a:xfrm>
            <a:off x="10085832" y="4096512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Local code or GitHub API</a:t>
            </a:r>
            <a:endParaRPr lang="en-US" sz="1300" dirty="0"/>
          </a:p>
        </p:txBody>
      </p:sp>
      <p:sp>
        <p:nvSpPr>
          <p:cNvPr id="60" name="Pipeline note"/>
          <p:cNvSpPr txBox="1"/>
          <p:nvPr/>
        </p:nvSpPr>
        <p:spPr>
          <a:xfrm>
            <a:off x="548640" y="51206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No git and no vector database: one HTTPS download per commit, vectors in .npy files on disk, and at most three model calls per bug.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Three ways to find the file</a:t>
            </a:r>
            <a:endParaRPr lang="en-US" sz="3600" dirty="0"/>
          </a:p>
        </p:txBody>
      </p:sp>
      <p:sp>
        <p:nvSpPr>
          <p:cNvPr id="4" name="Signal A card"/>
          <p:cNvSpPr/>
          <p:nvPr/>
        </p:nvSpPr>
        <p:spPr>
          <a:xfrm>
            <a:off x="548640" y="1554480"/>
            <a:ext cx="3511296" cy="3291840"/>
          </a:xfrm>
          <a:prstGeom prst="roundRect">
            <a:avLst>
              <a:gd name="adj" fmla="val 2778"/>
            </a:avLst>
          </a:prstGeom>
          <a:solidFill>
            <a:schemeClr val="bg2"/>
          </a:solidFill>
          <a:ln/>
        </p:spPr>
      </p:sp>
      <p:sp>
        <p:nvSpPr>
          <p:cNvPr id="5" name="Signal A circle"/>
          <p:cNvSpPr/>
          <p:nvPr/>
        </p:nvSpPr>
        <p:spPr>
          <a:xfrm>
            <a:off x="777240" y="1755648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Signal A label"/>
          <p:cNvSpPr txBox="1"/>
          <p:nvPr/>
        </p:nvSpPr>
        <p:spPr>
          <a:xfrm>
            <a:off x="777240" y="17556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A</a:t>
            </a:r>
            <a:endParaRPr lang="en-US" sz="1800" dirty="0"/>
          </a:p>
        </p:txBody>
      </p:sp>
      <p:sp>
        <p:nvSpPr>
          <p:cNvPr id="7" name="Signal A heading"/>
          <p:cNvSpPr txBox="1"/>
          <p:nvPr/>
        </p:nvSpPr>
        <p:spPr>
          <a:xfrm>
            <a:off x="1508760" y="175564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By meaning</a:t>
            </a:r>
            <a:endParaRPr lang="en-US" sz="2200" dirty="0"/>
          </a:p>
        </p:txBody>
      </p:sp>
      <p:sp>
        <p:nvSpPr>
          <p:cNvPr id="8" name="Signal A text"/>
          <p:cNvSpPr txBox="1"/>
          <p:nvPr/>
        </p:nvSpPr>
        <p:spPr>
          <a:xfrm>
            <a:off x="777240" y="2514600"/>
            <a:ext cx="305409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Code is cut into 60-line chunks and embedded on the laptop. The user's sentence and Gemma's search queries find chunks that are about the same thing.</a:t>
            </a:r>
            <a:endParaRPr lang="en-US" sz="1400" dirty="0"/>
          </a:p>
        </p:txBody>
      </p:sp>
      <p:sp>
        <p:nvSpPr>
          <p:cNvPr id="9" name="Signal A example box"/>
          <p:cNvSpPr/>
          <p:nvPr/>
        </p:nvSpPr>
        <p:spPr>
          <a:xfrm>
            <a:off x="777240" y="4160520"/>
            <a:ext cx="3054096" cy="457200"/>
          </a:xfrm>
          <a:prstGeom prst="roundRect">
            <a:avLst>
              <a:gd name="adj" fmla="val 16000"/>
            </a:avLst>
          </a:prstGeom>
          <a:solidFill>
            <a:schemeClr val="bg1"/>
          </a:solidFill>
          <a:ln/>
        </p:spPr>
      </p:sp>
      <p:sp>
        <p:nvSpPr>
          <p:cNvPr id="10" name="Signal A example"/>
          <p:cNvSpPr txBox="1"/>
          <p:nvPr/>
        </p:nvSpPr>
        <p:spPr>
          <a:xfrm>
            <a:off x="868680" y="4160520"/>
            <a:ext cx="2871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"CSS for overlapping buttons"</a:t>
            </a:r>
            <a:endParaRPr lang="en-US" sz="1200" dirty="0"/>
          </a:p>
        </p:txBody>
      </p:sp>
      <p:sp>
        <p:nvSpPr>
          <p:cNvPr id="11" name="Signal B card"/>
          <p:cNvSpPr/>
          <p:nvPr/>
        </p:nvSpPr>
        <p:spPr>
          <a:xfrm>
            <a:off x="4338828" y="1554480"/>
            <a:ext cx="3511296" cy="3291840"/>
          </a:xfrm>
          <a:prstGeom prst="roundRect">
            <a:avLst>
              <a:gd name="adj" fmla="val 2778"/>
            </a:avLst>
          </a:prstGeom>
          <a:solidFill>
            <a:schemeClr val="bg2"/>
          </a:solidFill>
          <a:ln/>
        </p:spPr>
      </p:sp>
      <p:sp>
        <p:nvSpPr>
          <p:cNvPr id="12" name="Signal B circle"/>
          <p:cNvSpPr/>
          <p:nvPr/>
        </p:nvSpPr>
        <p:spPr>
          <a:xfrm>
            <a:off x="4567428" y="1755648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Signal B label"/>
          <p:cNvSpPr txBox="1"/>
          <p:nvPr/>
        </p:nvSpPr>
        <p:spPr>
          <a:xfrm>
            <a:off x="4567428" y="17556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B</a:t>
            </a:r>
            <a:endParaRPr lang="en-US" sz="1800" dirty="0"/>
          </a:p>
        </p:txBody>
      </p:sp>
      <p:sp>
        <p:nvSpPr>
          <p:cNvPr id="14" name="Signal B heading"/>
          <p:cNvSpPr txBox="1"/>
          <p:nvPr/>
        </p:nvSpPr>
        <p:spPr>
          <a:xfrm>
            <a:off x="5298948" y="175564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By exact text</a:t>
            </a:r>
            <a:endParaRPr lang="en-US" sz="2200" dirty="0"/>
          </a:p>
        </p:txBody>
      </p:sp>
      <p:sp>
        <p:nvSpPr>
          <p:cNvPr id="15" name="Signal B text"/>
          <p:cNvSpPr txBox="1"/>
          <p:nvPr/>
        </p:nvSpPr>
        <p:spPr>
          <a:xfrm>
            <a:off x="4567428" y="2514600"/>
            <a:ext cx="305409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Labels, error lines and code names read from the screenshot are searched in the source. Text that appears in many files counts less.</a:t>
            </a:r>
            <a:endParaRPr lang="en-US" sz="1400" dirty="0"/>
          </a:p>
        </p:txBody>
      </p:sp>
      <p:sp>
        <p:nvSpPr>
          <p:cNvPr id="16" name="Signal B example box"/>
          <p:cNvSpPr/>
          <p:nvPr/>
        </p:nvSpPr>
        <p:spPr>
          <a:xfrm>
            <a:off x="4567428" y="4160520"/>
            <a:ext cx="3054096" cy="457200"/>
          </a:xfrm>
          <a:prstGeom prst="roundRect">
            <a:avLst>
              <a:gd name="adj" fmla="val 16000"/>
            </a:avLst>
          </a:prstGeom>
          <a:solidFill>
            <a:schemeClr val="bg1"/>
          </a:solidFill>
          <a:ln/>
        </p:spPr>
      </p:sp>
      <p:sp>
        <p:nvSpPr>
          <p:cNvPr id="17" name="Signal B example"/>
          <p:cNvSpPr txBox="1"/>
          <p:nvPr/>
        </p:nvSpPr>
        <p:spPr>
          <a:xfrm>
            <a:off x="4658868" y="4160520"/>
            <a:ext cx="2871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"Invalid username or password"</a:t>
            </a:r>
            <a:endParaRPr lang="en-US" sz="1200" dirty="0"/>
          </a:p>
        </p:txBody>
      </p:sp>
      <p:sp>
        <p:nvSpPr>
          <p:cNvPr id="18" name="Signal C card"/>
          <p:cNvSpPr/>
          <p:nvPr/>
        </p:nvSpPr>
        <p:spPr>
          <a:xfrm>
            <a:off x="8129016" y="1554480"/>
            <a:ext cx="3511296" cy="3291840"/>
          </a:xfrm>
          <a:prstGeom prst="roundRect">
            <a:avLst>
              <a:gd name="adj" fmla="val 2778"/>
            </a:avLst>
          </a:prstGeom>
          <a:solidFill>
            <a:schemeClr val="bg2"/>
          </a:solidFill>
          <a:ln/>
        </p:spPr>
      </p:sp>
      <p:sp>
        <p:nvSpPr>
          <p:cNvPr id="19" name="Signal C circle"/>
          <p:cNvSpPr/>
          <p:nvPr/>
        </p:nvSpPr>
        <p:spPr>
          <a:xfrm>
            <a:off x="8357616" y="1755648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Signal C label"/>
          <p:cNvSpPr txBox="1"/>
          <p:nvPr/>
        </p:nvSpPr>
        <p:spPr>
          <a:xfrm>
            <a:off x="8357616" y="17556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C</a:t>
            </a:r>
            <a:endParaRPr lang="en-US" sz="1800" dirty="0"/>
          </a:p>
        </p:txBody>
      </p:sp>
      <p:sp>
        <p:nvSpPr>
          <p:cNvPr id="21" name="Signal C heading"/>
          <p:cNvSpPr txBox="1"/>
          <p:nvPr/>
        </p:nvSpPr>
        <p:spPr>
          <a:xfrm>
            <a:off x="9089136" y="175564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By file name</a:t>
            </a:r>
            <a:endParaRPr lang="en-US" sz="2200" dirty="0"/>
          </a:p>
        </p:txBody>
      </p:sp>
      <p:sp>
        <p:nvSpPr>
          <p:cNvPr id="22" name="Signal C text"/>
          <p:cNvSpPr txBox="1"/>
          <p:nvPr/>
        </p:nvSpPr>
        <p:spPr>
          <a:xfrm>
            <a:off x="8357616" y="2514600"/>
            <a:ext cx="305409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stack trace or editor tab names the file. It is matched to the repository by its trailing folders and opened at that line.</a:t>
            </a:r>
            <a:endParaRPr lang="en-US" sz="1400" dirty="0"/>
          </a:p>
        </p:txBody>
      </p:sp>
      <p:sp>
        <p:nvSpPr>
          <p:cNvPr id="23" name="Signal C example box"/>
          <p:cNvSpPr/>
          <p:nvPr/>
        </p:nvSpPr>
        <p:spPr>
          <a:xfrm>
            <a:off x="8357616" y="4160520"/>
            <a:ext cx="3054096" cy="457200"/>
          </a:xfrm>
          <a:prstGeom prst="roundRect">
            <a:avLst>
              <a:gd name="adj" fmla="val 16000"/>
            </a:avLst>
          </a:prstGeom>
          <a:solidFill>
            <a:schemeClr val="bg1"/>
          </a:solidFill>
          <a:ln/>
        </p:spPr>
      </p:sp>
      <p:sp>
        <p:nvSpPr>
          <p:cNvPr id="24" name="Signal C example"/>
          <p:cNvSpPr txBox="1"/>
          <p:nvPr/>
        </p:nvSpPr>
        <p:spPr>
          <a:xfrm>
            <a:off x="8449056" y="4160520"/>
            <a:ext cx="2871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itsdangerous/timed.py:211</a:t>
            </a:r>
            <a:endParaRPr lang="en-US" sz="1200" dirty="0"/>
          </a:p>
        </p:txBody>
      </p:sp>
      <p:sp>
        <p:nvSpPr>
          <p:cNvPr id="25" name="Score bar"/>
          <p:cNvSpPr/>
          <p:nvPr/>
        </p:nvSpPr>
        <p:spPr>
          <a:xfrm>
            <a:off x="548640" y="5120640"/>
            <a:ext cx="11091672" cy="868680"/>
          </a:xfrm>
          <a:prstGeom prst="roundRect">
            <a:avLst>
              <a:gd name="adj" fmla="val 10526"/>
            </a:avLst>
          </a:prstGeom>
          <a:solidFill>
            <a:schemeClr val="tx1"/>
          </a:solidFill>
          <a:ln/>
        </p:spPr>
      </p:sp>
      <p:sp>
        <p:nvSpPr>
          <p:cNvPr id="26" name="Score formula"/>
          <p:cNvSpPr txBox="1"/>
          <p:nvPr/>
        </p:nvSpPr>
        <p:spPr>
          <a:xfrm>
            <a:off x="822960" y="5212080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File score = best matching chunk + other matching chunks + on-screen text found + file named on screen</a:t>
            </a:r>
            <a:endParaRPr lang="en-US" sz="1600" dirty="0"/>
          </a:p>
        </p:txBody>
      </p:sp>
      <p:sp>
        <p:nvSpPr>
          <p:cNvPr id="27" name="Score note"/>
          <p:cNvSpPr txBox="1"/>
          <p:nvPr/>
        </p:nvSpPr>
        <p:spPr>
          <a:xfrm>
            <a:off x="822960" y="5559552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The 12 best files go to Gemma for ranking.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The model is boxed in</a:t>
            </a:r>
            <a:endParaRPr lang="en-US" sz="3600" dirty="0"/>
          </a:p>
        </p:txBody>
      </p:sp>
      <p:sp>
        <p:nvSpPr>
          <p:cNvPr id="4" name="Guard 1 card"/>
          <p:cNvSpPr/>
          <p:nvPr/>
        </p:nvSpPr>
        <p:spPr>
          <a:xfrm>
            <a:off x="548640" y="1554480"/>
            <a:ext cx="3511296" cy="1965960"/>
          </a:xfrm>
          <a:prstGeom prst="roundRect">
            <a:avLst>
              <a:gd name="adj" fmla="val 4651"/>
            </a:avLst>
          </a:prstGeom>
          <a:solidFill>
            <a:schemeClr val="bg2"/>
          </a:solidFill>
          <a:ln/>
        </p:spPr>
      </p:sp>
      <p:sp>
        <p:nvSpPr>
          <p:cNvPr id="5" name="Guard 1 circle"/>
          <p:cNvSpPr/>
          <p:nvPr/>
        </p:nvSpPr>
        <p:spPr>
          <a:xfrm>
            <a:off x="777240" y="175564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Guard 1 label"/>
          <p:cNvSpPr txBox="1"/>
          <p:nvPr/>
        </p:nvSpPr>
        <p:spPr>
          <a:xfrm>
            <a:off x="777240" y="1755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Guard 1 heading"/>
          <p:cNvSpPr txBox="1"/>
          <p:nvPr/>
        </p:nvSpPr>
        <p:spPr>
          <a:xfrm>
            <a:off x="1371600" y="175564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Candidates only</a:t>
            </a:r>
            <a:endParaRPr lang="en-US" sz="1900" dirty="0"/>
          </a:p>
        </p:txBody>
      </p:sp>
      <p:sp>
        <p:nvSpPr>
          <p:cNvPr id="8" name="Guard 1 text"/>
          <p:cNvSpPr txBox="1"/>
          <p:nvPr/>
        </p:nvSpPr>
        <p:spPr>
          <a:xfrm>
            <a:off x="777240" y="2423160"/>
            <a:ext cx="30540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A path that search did not find is dropped, and a warning is shown.</a:t>
            </a:r>
            <a:endParaRPr lang="en-US" sz="1600" dirty="0"/>
          </a:p>
        </p:txBody>
      </p:sp>
      <p:sp>
        <p:nvSpPr>
          <p:cNvPr id="9" name="Guard 2 card"/>
          <p:cNvSpPr/>
          <p:nvPr/>
        </p:nvSpPr>
        <p:spPr>
          <a:xfrm>
            <a:off x="4338828" y="1554480"/>
            <a:ext cx="3511296" cy="1965960"/>
          </a:xfrm>
          <a:prstGeom prst="roundRect">
            <a:avLst>
              <a:gd name="adj" fmla="val 4651"/>
            </a:avLst>
          </a:prstGeom>
          <a:solidFill>
            <a:schemeClr val="bg2"/>
          </a:solidFill>
          <a:ln/>
        </p:spPr>
      </p:sp>
      <p:sp>
        <p:nvSpPr>
          <p:cNvPr id="10" name="Guard 2 circle"/>
          <p:cNvSpPr/>
          <p:nvPr/>
        </p:nvSpPr>
        <p:spPr>
          <a:xfrm>
            <a:off x="4567428" y="175564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Guard 2 label"/>
          <p:cNvSpPr txBox="1"/>
          <p:nvPr/>
        </p:nvSpPr>
        <p:spPr>
          <a:xfrm>
            <a:off x="4567428" y="1755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Guard 2 heading"/>
          <p:cNvSpPr txBox="1"/>
          <p:nvPr/>
        </p:nvSpPr>
        <p:spPr>
          <a:xfrm>
            <a:off x="5161788" y="175564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Real labels only</a:t>
            </a:r>
            <a:endParaRPr lang="en-US" sz="1900" dirty="0"/>
          </a:p>
        </p:txBody>
      </p:sp>
      <p:sp>
        <p:nvSpPr>
          <p:cNvPr id="13" name="Guard 2 text"/>
          <p:cNvSpPr txBox="1"/>
          <p:nvPr/>
        </p:nvSpPr>
        <p:spPr>
          <a:xfrm>
            <a:off x="4567428" y="2423160"/>
            <a:ext cx="30540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Suggested labels are filtered against the repository's own label list.</a:t>
            </a:r>
            <a:endParaRPr lang="en-US" sz="1600" dirty="0"/>
          </a:p>
        </p:txBody>
      </p:sp>
      <p:sp>
        <p:nvSpPr>
          <p:cNvPr id="14" name="Guard 3 card"/>
          <p:cNvSpPr/>
          <p:nvPr/>
        </p:nvSpPr>
        <p:spPr>
          <a:xfrm>
            <a:off x="8129016" y="1554480"/>
            <a:ext cx="3511296" cy="1965960"/>
          </a:xfrm>
          <a:prstGeom prst="roundRect">
            <a:avLst>
              <a:gd name="adj" fmla="val 4651"/>
            </a:avLst>
          </a:prstGeom>
          <a:solidFill>
            <a:schemeClr val="bg2"/>
          </a:solidFill>
          <a:ln/>
        </p:spPr>
      </p:sp>
      <p:sp>
        <p:nvSpPr>
          <p:cNvPr id="15" name="Guard 3 circle"/>
          <p:cNvSpPr/>
          <p:nvPr/>
        </p:nvSpPr>
        <p:spPr>
          <a:xfrm>
            <a:off x="8357616" y="175564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Guard 3 label"/>
          <p:cNvSpPr txBox="1"/>
          <p:nvPr/>
        </p:nvSpPr>
        <p:spPr>
          <a:xfrm>
            <a:off x="8357616" y="1755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Guard 3 heading"/>
          <p:cNvSpPr txBox="1"/>
          <p:nvPr/>
        </p:nvSpPr>
        <p:spPr>
          <a:xfrm>
            <a:off x="8951976" y="175564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No invented facts</a:t>
            </a:r>
            <a:endParaRPr lang="en-US" sz="1900" dirty="0"/>
          </a:p>
        </p:txBody>
      </p:sp>
      <p:sp>
        <p:nvSpPr>
          <p:cNvPr id="18" name="Guard 3 text"/>
          <p:cNvSpPr txBox="1"/>
          <p:nvPr/>
        </p:nvSpPr>
        <p:spPr>
          <a:xfrm>
            <a:off x="8357616" y="2423160"/>
            <a:ext cx="30540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Details nobody stated stay marked as [please confirm].</a:t>
            </a:r>
            <a:endParaRPr lang="en-US" sz="1600" dirty="0"/>
          </a:p>
        </p:txBody>
      </p:sp>
      <p:sp>
        <p:nvSpPr>
          <p:cNvPr id="19" name="Guard 4 card"/>
          <p:cNvSpPr/>
          <p:nvPr/>
        </p:nvSpPr>
        <p:spPr>
          <a:xfrm>
            <a:off x="548640" y="3794760"/>
            <a:ext cx="3511296" cy="1965960"/>
          </a:xfrm>
          <a:prstGeom prst="roundRect">
            <a:avLst>
              <a:gd name="adj" fmla="val 4651"/>
            </a:avLst>
          </a:prstGeom>
          <a:solidFill>
            <a:schemeClr val="bg2"/>
          </a:solidFill>
          <a:ln/>
        </p:spPr>
      </p:sp>
      <p:sp>
        <p:nvSpPr>
          <p:cNvPr id="20" name="Guard 4 circle"/>
          <p:cNvSpPr/>
          <p:nvPr/>
        </p:nvSpPr>
        <p:spPr>
          <a:xfrm>
            <a:off x="777240" y="399592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1" name="Guard 4 label"/>
          <p:cNvSpPr txBox="1"/>
          <p:nvPr/>
        </p:nvSpPr>
        <p:spPr>
          <a:xfrm>
            <a:off x="777240" y="3995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2" name="Guard 4 heading"/>
          <p:cNvSpPr txBox="1"/>
          <p:nvPr/>
        </p:nvSpPr>
        <p:spPr>
          <a:xfrm>
            <a:off x="1371600" y="399592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Evidence from code</a:t>
            </a:r>
            <a:endParaRPr lang="en-US" sz="1900" dirty="0"/>
          </a:p>
        </p:txBody>
      </p:sp>
      <p:sp>
        <p:nvSpPr>
          <p:cNvPr id="23" name="Guard 4 text"/>
          <p:cNvSpPr txBox="1"/>
          <p:nvPr/>
        </p:nvSpPr>
        <p:spPr>
          <a:xfrm>
            <a:off x="777240" y="4663440"/>
            <a:ext cx="30540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The excerpt and line link come from search results, not from the model.</a:t>
            </a:r>
            <a:endParaRPr lang="en-US" sz="1600" dirty="0"/>
          </a:p>
        </p:txBody>
      </p:sp>
      <p:sp>
        <p:nvSpPr>
          <p:cNvPr id="24" name="Guard 5 card"/>
          <p:cNvSpPr/>
          <p:nvPr/>
        </p:nvSpPr>
        <p:spPr>
          <a:xfrm>
            <a:off x="4338828" y="3794760"/>
            <a:ext cx="3511296" cy="1965960"/>
          </a:xfrm>
          <a:prstGeom prst="roundRect">
            <a:avLst>
              <a:gd name="adj" fmla="val 4651"/>
            </a:avLst>
          </a:prstGeom>
          <a:solidFill>
            <a:schemeClr val="bg2"/>
          </a:solidFill>
          <a:ln/>
        </p:spPr>
      </p:sp>
      <p:sp>
        <p:nvSpPr>
          <p:cNvPr id="25" name="Guard 5 circle"/>
          <p:cNvSpPr/>
          <p:nvPr/>
        </p:nvSpPr>
        <p:spPr>
          <a:xfrm>
            <a:off x="4567428" y="399592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6" name="Guard 5 label"/>
          <p:cNvSpPr txBox="1"/>
          <p:nvPr/>
        </p:nvSpPr>
        <p:spPr>
          <a:xfrm>
            <a:off x="4567428" y="3995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7" name="Guard 5 heading"/>
          <p:cNvSpPr txBox="1"/>
          <p:nvPr/>
        </p:nvSpPr>
        <p:spPr>
          <a:xfrm>
            <a:off x="5161788" y="399592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Input is data</a:t>
            </a:r>
            <a:endParaRPr lang="en-US" sz="1900" dirty="0"/>
          </a:p>
        </p:txBody>
      </p:sp>
      <p:sp>
        <p:nvSpPr>
          <p:cNvPr id="28" name="Guard 5 text"/>
          <p:cNvSpPr txBox="1"/>
          <p:nvPr/>
        </p:nvSpPr>
        <p:spPr>
          <a:xfrm>
            <a:off x="4567428" y="4663440"/>
            <a:ext cx="30540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Every prompt says screenshot and repository text are never instructions.</a:t>
            </a:r>
            <a:endParaRPr lang="en-US" sz="1600" dirty="0"/>
          </a:p>
        </p:txBody>
      </p:sp>
      <p:sp>
        <p:nvSpPr>
          <p:cNvPr id="29" name="Guard 6 card"/>
          <p:cNvSpPr/>
          <p:nvPr/>
        </p:nvSpPr>
        <p:spPr>
          <a:xfrm>
            <a:off x="8129016" y="3794760"/>
            <a:ext cx="3511296" cy="1965960"/>
          </a:xfrm>
          <a:prstGeom prst="roundRect">
            <a:avLst>
              <a:gd name="adj" fmla="val 4651"/>
            </a:avLst>
          </a:prstGeom>
          <a:solidFill>
            <a:schemeClr val="bg2"/>
          </a:solidFill>
          <a:ln/>
        </p:spPr>
      </p:sp>
      <p:sp>
        <p:nvSpPr>
          <p:cNvPr id="30" name="Guard 6 circle"/>
          <p:cNvSpPr/>
          <p:nvPr/>
        </p:nvSpPr>
        <p:spPr>
          <a:xfrm>
            <a:off x="8357616" y="399592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1" name="Guard 6 label"/>
          <p:cNvSpPr txBox="1"/>
          <p:nvPr/>
        </p:nvSpPr>
        <p:spPr>
          <a:xfrm>
            <a:off x="8357616" y="3995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32" name="Guard 6 heading"/>
          <p:cNvSpPr txBox="1"/>
          <p:nvPr/>
        </p:nvSpPr>
        <p:spPr>
          <a:xfrm>
            <a:off x="8951976" y="399592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Checked JSON</a:t>
            </a:r>
            <a:endParaRPr lang="en-US" sz="1900" dirty="0"/>
          </a:p>
        </p:txBody>
      </p:sp>
      <p:sp>
        <p:nvSpPr>
          <p:cNvPr id="33" name="Guard 6 text"/>
          <p:cNvSpPr txBox="1"/>
          <p:nvPr/>
        </p:nvSpPr>
        <p:spPr>
          <a:xfrm>
            <a:off x="8357616" y="4663440"/>
            <a:ext cx="30540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Replies are parsed tolerantly, validated, and repaired once if needed.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Demo: a real bug from File Browser</a:t>
            </a:r>
            <a:endParaRPr lang="en-US" sz="3600" dirty="0"/>
          </a:p>
        </p:txBody>
      </p:sp>
      <p:sp>
        <p:nvSpPr>
          <p:cNvPr id="4" name="Demo input card"/>
          <p:cNvSpPr/>
          <p:nvPr/>
        </p:nvSpPr>
        <p:spPr>
          <a:xfrm>
            <a:off x="548640" y="1554480"/>
            <a:ext cx="4846320" cy="4251960"/>
          </a:xfrm>
          <a:prstGeom prst="roundRect">
            <a:avLst>
              <a:gd name="adj" fmla="val 2151"/>
            </a:avLst>
          </a:prstGeom>
          <a:solidFill>
            <a:schemeClr val="bg2"/>
          </a:solidFill>
          <a:ln/>
        </p:spPr>
      </p:sp>
      <p:pic>
        <p:nvPicPr>
          <p:cNvPr id="5" name="Demo screenshot" descr="The screenshot given to BugLens: a menu icon overlapping a close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783080"/>
            <a:ext cx="3493008" cy="2286000"/>
          </a:xfrm>
          <a:prstGeom prst="rect">
            <a:avLst/>
          </a:prstGeom>
        </p:spPr>
      </p:pic>
      <p:sp>
        <p:nvSpPr>
          <p:cNvPr id="6" name="Demo repository label"/>
          <p:cNvSpPr txBox="1"/>
          <p:nvPr/>
        </p:nvSpPr>
        <p:spPr>
          <a:xfrm>
            <a:off x="822960" y="420624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5"/>
                </a:solidFill>
              </a:rPr>
              <a:t>REPOSITORY</a:t>
            </a:r>
            <a:endParaRPr lang="en-US" sz="1100" dirty="0"/>
          </a:p>
        </p:txBody>
      </p:sp>
      <p:sp>
        <p:nvSpPr>
          <p:cNvPr id="7" name="Demo repository value"/>
          <p:cNvSpPr txBox="1"/>
          <p:nvPr/>
        </p:nvSpPr>
        <p:spPr>
          <a:xfrm>
            <a:off x="822960" y="441655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filebrowser/filebrowser, the commit just before the fix</a:t>
            </a:r>
            <a:endParaRPr lang="en-US" sz="1400" dirty="0"/>
          </a:p>
        </p:txBody>
      </p:sp>
      <p:sp>
        <p:nvSpPr>
          <p:cNvPr id="8" name="Demo sentence label"/>
          <p:cNvSpPr txBox="1"/>
          <p:nvPr/>
        </p:nvSpPr>
        <p:spPr>
          <a:xfrm>
            <a:off x="822960" y="4773168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5"/>
                </a:solidFill>
              </a:rPr>
              <a:t>SENTENCE</a:t>
            </a:r>
            <a:endParaRPr lang="en-US" sz="1100" dirty="0"/>
          </a:p>
        </p:txBody>
      </p:sp>
      <p:sp>
        <p:nvSpPr>
          <p:cNvPr id="9" name="Demo sentence value"/>
          <p:cNvSpPr txBox="1"/>
          <p:nvPr/>
        </p:nvSpPr>
        <p:spPr>
          <a:xfrm>
            <a:off x="822960" y="4983480"/>
            <a:ext cx="4297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In the EPUB viewer the table of contents button overlaps the Close button, so the table of contents cannot be opened.</a:t>
            </a:r>
            <a:endParaRPr lang="en-US" sz="1400" dirty="0"/>
          </a:p>
        </p:txBody>
      </p:sp>
      <p:sp>
        <p:nvSpPr>
          <p:cNvPr id="10" name="Stat 1 card"/>
          <p:cNvSpPr/>
          <p:nvPr/>
        </p:nvSpPr>
        <p:spPr>
          <a:xfrm>
            <a:off x="5760720" y="1554480"/>
            <a:ext cx="2798064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1" name="Stat 1 number"/>
          <p:cNvSpPr txBox="1"/>
          <p:nvPr/>
        </p:nvSpPr>
        <p:spPr>
          <a:xfrm>
            <a:off x="5943600" y="1645920"/>
            <a:ext cx="24323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353</a:t>
            </a:r>
            <a:endParaRPr lang="en-US" sz="5400" dirty="0"/>
          </a:p>
        </p:txBody>
      </p:sp>
      <p:sp>
        <p:nvSpPr>
          <p:cNvPr id="12" name="Stat 1 label"/>
          <p:cNvSpPr txBox="1"/>
          <p:nvPr/>
        </p:nvSpPr>
        <p:spPr>
          <a:xfrm>
            <a:off x="5943600" y="2532888"/>
            <a:ext cx="2432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files searched</a:t>
            </a:r>
            <a:endParaRPr lang="en-US" sz="1400" dirty="0"/>
          </a:p>
        </p:txBody>
      </p:sp>
      <p:sp>
        <p:nvSpPr>
          <p:cNvPr id="13" name="Stat 2 card"/>
          <p:cNvSpPr/>
          <p:nvPr/>
        </p:nvSpPr>
        <p:spPr>
          <a:xfrm>
            <a:off x="8833104" y="1554480"/>
            <a:ext cx="2798064" cy="1600200"/>
          </a:xfrm>
          <a:prstGeom prst="roundRect">
            <a:avLst>
              <a:gd name="adj" fmla="val 5714"/>
            </a:avLst>
          </a:prstGeom>
          <a:solidFill>
            <a:schemeClr val="accent2"/>
          </a:solidFill>
          <a:ln/>
        </p:spPr>
      </p:sp>
      <p:sp>
        <p:nvSpPr>
          <p:cNvPr id="14" name="Stat 2 number"/>
          <p:cNvSpPr txBox="1"/>
          <p:nvPr/>
        </p:nvSpPr>
        <p:spPr>
          <a:xfrm>
            <a:off x="9015984" y="1645920"/>
            <a:ext cx="24323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tx1"/>
                </a:solidFill>
              </a:rPr>
              <a:t>#1</a:t>
            </a:r>
            <a:endParaRPr lang="en-US" sz="5400" dirty="0"/>
          </a:p>
        </p:txBody>
      </p:sp>
      <p:sp>
        <p:nvSpPr>
          <p:cNvPr id="15" name="Stat 2 label"/>
          <p:cNvSpPr txBox="1"/>
          <p:nvPr/>
        </p:nvSpPr>
        <p:spPr>
          <a:xfrm>
            <a:off x="9015984" y="2532888"/>
            <a:ext cx="2432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rank of the file the real fix changed</a:t>
            </a:r>
            <a:endParaRPr lang="en-US" sz="1400" dirty="0"/>
          </a:p>
        </p:txBody>
      </p:sp>
      <p:sp>
        <p:nvSpPr>
          <p:cNvPr id="16" name="Stat 3 card"/>
          <p:cNvSpPr/>
          <p:nvPr/>
        </p:nvSpPr>
        <p:spPr>
          <a:xfrm>
            <a:off x="5760720" y="3337560"/>
            <a:ext cx="2798064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7" name="Stat 3 number"/>
          <p:cNvSpPr txBox="1"/>
          <p:nvPr/>
        </p:nvSpPr>
        <p:spPr>
          <a:xfrm>
            <a:off x="5943600" y="3429000"/>
            <a:ext cx="24323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0.90</a:t>
            </a:r>
            <a:endParaRPr lang="en-US" sz="5400" dirty="0"/>
          </a:p>
        </p:txBody>
      </p:sp>
      <p:sp>
        <p:nvSpPr>
          <p:cNvPr id="18" name="Stat 3 label"/>
          <p:cNvSpPr txBox="1"/>
          <p:nvPr/>
        </p:nvSpPr>
        <p:spPr>
          <a:xfrm>
            <a:off x="5943600" y="4315968"/>
            <a:ext cx="2432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confidence on that file</a:t>
            </a:r>
            <a:endParaRPr lang="en-US" sz="1400" dirty="0"/>
          </a:p>
        </p:txBody>
      </p:sp>
      <p:sp>
        <p:nvSpPr>
          <p:cNvPr id="19" name="Stat 4 card"/>
          <p:cNvSpPr/>
          <p:nvPr/>
        </p:nvSpPr>
        <p:spPr>
          <a:xfrm>
            <a:off x="8833104" y="3337560"/>
            <a:ext cx="2798064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20" name="Stat 4 number"/>
          <p:cNvSpPr txBox="1"/>
          <p:nvPr/>
        </p:nvSpPr>
        <p:spPr>
          <a:xfrm>
            <a:off x="9015984" y="3429000"/>
            <a:ext cx="24323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0.83</a:t>
            </a:r>
            <a:endParaRPr lang="en-US" sz="5400" dirty="0"/>
          </a:p>
        </p:txBody>
      </p:sp>
      <p:sp>
        <p:nvSpPr>
          <p:cNvPr id="21" name="Stat 4 label"/>
          <p:cNvSpPr txBox="1"/>
          <p:nvPr/>
        </p:nvSpPr>
        <p:spPr>
          <a:xfrm>
            <a:off x="9015984" y="4315968"/>
            <a:ext cx="2432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similarity to the original report</a:t>
            </a:r>
            <a:endParaRPr lang="en-US" sz="1400" dirty="0"/>
          </a:p>
        </p:txBody>
      </p:sp>
      <p:sp>
        <p:nvSpPr>
          <p:cNvPr id="22" name="Demo proof"/>
          <p:cNvSpPr txBox="1"/>
          <p:nvPr/>
        </p:nvSpPr>
        <p:spPr>
          <a:xfrm>
            <a:off x="5760720" y="5166360"/>
            <a:ext cx="5870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real fix, pull request #6010, changed exactly one file: </a:t>
            </a:r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frontend/src/css/epubReader.css</a:t>
            </a:r>
            <a:endParaRPr lang="en-US" sz="1400" dirty="0"/>
          </a:p>
        </p:txBody>
      </p:sp>
      <p:sp>
        <p:nvSpPr>
          <p:cNvPr id="23" name="Demo source"/>
          <p:cNvSpPr txBox="1"/>
          <p:nvPr/>
        </p:nvSpPr>
        <p:spPr>
          <a:xfrm>
            <a:off x="548640" y="59436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Source: github.com/filebrowser/filebrowser/issues/5974. One run with gemma-4-31b-it, 105 s in total.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What BugLens returned for that bug</a:t>
            </a:r>
            <a:endParaRPr lang="en-US" sz="3600" dirty="0"/>
          </a:p>
        </p:txBody>
      </p:sp>
      <p:sp>
        <p:nvSpPr>
          <p:cNvPr id="4" name="Issue card"/>
          <p:cNvSpPr/>
          <p:nvPr/>
        </p:nvSpPr>
        <p:spPr>
          <a:xfrm>
            <a:off x="548640" y="1554480"/>
            <a:ext cx="5303520" cy="4343400"/>
          </a:xfrm>
          <a:prstGeom prst="roundRect">
            <a:avLst>
              <a:gd name="adj" fmla="val 2105"/>
            </a:avLst>
          </a:prstGeom>
          <a:solidFill>
            <a:schemeClr val="bg2"/>
          </a:solidFill>
          <a:ln/>
        </p:spPr>
      </p:sp>
      <p:sp>
        <p:nvSpPr>
          <p:cNvPr id="5" name="Issue label"/>
          <p:cNvSpPr txBox="1"/>
          <p:nvPr/>
        </p:nvSpPr>
        <p:spPr>
          <a:xfrm>
            <a:off x="777240" y="1737360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5"/>
                </a:solidFill>
              </a:rPr>
              <a:t>ISSUE DRAFT</a:t>
            </a:r>
            <a:endParaRPr lang="en-US" sz="1100" dirty="0"/>
          </a:p>
        </p:txBody>
      </p:sp>
      <p:sp>
        <p:nvSpPr>
          <p:cNvPr id="6" name="Issue title"/>
          <p:cNvSpPr txBox="1"/>
          <p:nvPr/>
        </p:nvSpPr>
        <p:spPr>
          <a:xfrm>
            <a:off x="777240" y="1965960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EPUB viewer: Table of contents button overlaps Close button</a:t>
            </a:r>
            <a:endParaRPr lang="en-US" sz="1800" dirty="0"/>
          </a:p>
        </p:txBody>
      </p:sp>
      <p:sp>
        <p:nvSpPr>
          <p:cNvPr id="7" name="Label chip 1"/>
          <p:cNvSpPr/>
          <p:nvPr/>
        </p:nvSpPr>
        <p:spPr>
          <a:xfrm>
            <a:off x="777240" y="2724912"/>
            <a:ext cx="685800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8" name="Label chip 1 text"/>
          <p:cNvSpPr txBox="1"/>
          <p:nvPr/>
        </p:nvSpPr>
        <p:spPr>
          <a:xfrm>
            <a:off x="777240" y="2724912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bug</a:t>
            </a:r>
            <a:endParaRPr lang="en-US" sz="1200" dirty="0"/>
          </a:p>
        </p:txBody>
      </p:sp>
      <p:sp>
        <p:nvSpPr>
          <p:cNvPr id="9" name="Label chip 2"/>
          <p:cNvSpPr/>
          <p:nvPr/>
        </p:nvSpPr>
        <p:spPr>
          <a:xfrm>
            <a:off x="1572768" y="2724912"/>
            <a:ext cx="1417320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0" name="Label chip 2 text"/>
          <p:cNvSpPr txBox="1"/>
          <p:nvPr/>
        </p:nvSpPr>
        <p:spPr>
          <a:xfrm>
            <a:off x="1572768" y="272491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waiting: triage</a:t>
            </a:r>
            <a:endParaRPr lang="en-US" sz="1200" dirty="0"/>
          </a:p>
        </p:txBody>
      </p:sp>
      <p:sp>
        <p:nvSpPr>
          <p:cNvPr id="11" name="Label chip 3"/>
          <p:cNvSpPr/>
          <p:nvPr/>
        </p:nvSpPr>
        <p:spPr>
          <a:xfrm>
            <a:off x="3099816" y="2724912"/>
            <a:ext cx="1371600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2" name="Label chip 3 text"/>
          <p:cNvSpPr txBox="1"/>
          <p:nvPr/>
        </p:nvSpPr>
        <p:spPr>
          <a:xfrm>
            <a:off x="3099816" y="272491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area: frontend</a:t>
            </a:r>
            <a:endParaRPr lang="en-US" sz="1200" dirty="0"/>
          </a:p>
        </p:txBody>
      </p:sp>
      <p:sp>
        <p:nvSpPr>
          <p:cNvPr id="13" name="Issue sections caption"/>
          <p:cNvSpPr txBox="1"/>
          <p:nvPr/>
        </p:nvSpPr>
        <p:spPr>
          <a:xfrm>
            <a:off x="777240" y="320040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Sections of File Browser's own Bug Report form:</a:t>
            </a:r>
            <a:endParaRPr lang="en-US" sz="1300" dirty="0"/>
          </a:p>
        </p:txBody>
      </p:sp>
      <p:sp>
        <p:nvSpPr>
          <p:cNvPr id="14" name="Issue sections"/>
          <p:cNvSpPr txBox="1"/>
          <p:nvPr/>
        </p:nvSpPr>
        <p:spPr>
          <a:xfrm>
            <a:off x="777240" y="3520440"/>
            <a:ext cx="48463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Checklist</a:t>
            </a:r>
            <a:endParaRPr lang="en-US" sz="140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Version: [please confirm]</a:t>
            </a:r>
            <a:endParaRPr lang="en-US" sz="140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Description</a:t>
            </a:r>
            <a:endParaRPr lang="en-US" sz="140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What did you expect to happen?</a:t>
            </a:r>
            <a:endParaRPr lang="en-US" sz="140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What actually happened?</a:t>
            </a:r>
            <a:endParaRPr lang="en-US" sz="140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Reproduction Steps: each step marked [please confirm]</a:t>
            </a:r>
            <a:endParaRPr lang="en-US" sz="140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Files: possibly related files</a:t>
            </a:r>
            <a:endParaRPr lang="en-US" sz="1400" dirty="0"/>
          </a:p>
        </p:txBody>
      </p:sp>
      <p:sp>
        <p:nvSpPr>
          <p:cNvPr id="15" name="Files label"/>
          <p:cNvSpPr txBox="1"/>
          <p:nvPr/>
        </p:nvSpPr>
        <p:spPr>
          <a:xfrm>
            <a:off x="6217920" y="1600200"/>
            <a:ext cx="5422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5"/>
                </a:solidFill>
              </a:rPr>
              <a:t>SUSPECTED FILES</a:t>
            </a:r>
            <a:endParaRPr lang="en-US" sz="1100" dirty="0"/>
          </a:p>
        </p:txBody>
      </p:sp>
      <p:graphicFrame>
        <p:nvGraphicFramePr>
          <p:cNvPr id="9" name="Suspected file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1874520"/>
          <a:ext cx="5422392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3657600"/>
                <a:gridCol w="1307592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#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File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Confidence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frontend/src/css/epubReader.css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0.90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frontend/src/css/styles.css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0.60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Files note"/>
          <p:cNvSpPr txBox="1"/>
          <p:nvPr/>
        </p:nvSpPr>
        <p:spPr>
          <a:xfrm>
            <a:off x="6217920" y="3246120"/>
            <a:ext cx="5422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File 1 is the file the real fix changed.</a:t>
            </a:r>
            <a:endParaRPr lang="en-US" sz="1300" dirty="0"/>
          </a:p>
        </p:txBody>
      </p:sp>
      <p:sp>
        <p:nvSpPr>
          <p:cNvPr id="18" name="Similar issue card"/>
          <p:cNvSpPr/>
          <p:nvPr/>
        </p:nvSpPr>
        <p:spPr>
          <a:xfrm>
            <a:off x="6217920" y="3703320"/>
            <a:ext cx="5422392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/>
        </p:spPr>
      </p:sp>
      <p:sp>
        <p:nvSpPr>
          <p:cNvPr id="19" name="Similar label"/>
          <p:cNvSpPr txBox="1"/>
          <p:nvPr/>
        </p:nvSpPr>
        <p:spPr>
          <a:xfrm>
            <a:off x="6400800" y="379476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5"/>
                </a:solidFill>
              </a:rPr>
              <a:t>SIMILAR EXISTING ISSUE</a:t>
            </a:r>
            <a:endParaRPr lang="en-US" sz="1100" dirty="0"/>
          </a:p>
        </p:txBody>
      </p:sp>
      <p:sp>
        <p:nvSpPr>
          <p:cNvPr id="20" name="Similar value"/>
          <p:cNvSpPr txBox="1"/>
          <p:nvPr/>
        </p:nvSpPr>
        <p:spPr>
          <a:xfrm>
            <a:off x="6400800" y="402336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#5974 EPUB viewer TOC overlaps Close button (closed, similarity 0.83)</a:t>
            </a:r>
            <a:endParaRPr lang="en-US" sz="1400" dirty="0"/>
          </a:p>
        </p:txBody>
      </p:sp>
      <p:sp>
        <p:nvSpPr>
          <p:cNvPr id="21" name="Brief card"/>
          <p:cNvSpPr/>
          <p:nvPr/>
        </p:nvSpPr>
        <p:spPr>
          <a:xfrm>
            <a:off x="6217920" y="4846320"/>
            <a:ext cx="5422392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/>
        </p:spPr>
      </p:sp>
      <p:sp>
        <p:nvSpPr>
          <p:cNvPr id="22" name="Brief label"/>
          <p:cNvSpPr txBox="1"/>
          <p:nvPr/>
        </p:nvSpPr>
        <p:spPr>
          <a:xfrm>
            <a:off x="6400800" y="493776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5"/>
                </a:solidFill>
              </a:rPr>
              <a:t>CONTRIBUTOR BRIEF, WHERE TO START</a:t>
            </a:r>
            <a:endParaRPr lang="en-US" sz="1100" dirty="0"/>
          </a:p>
        </p:txBody>
      </p:sp>
      <p:sp>
        <p:nvSpPr>
          <p:cNvPr id="23" name="Brief value"/>
          <p:cNvSpPr txBox="1"/>
          <p:nvPr/>
        </p:nvSpPr>
        <p:spPr>
          <a:xfrm>
            <a:off x="6400800" y="516636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Styles for .tocButton and .tocButtonBar that control the positioning of the table of contents menu.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How we measure it</a:t>
            </a:r>
            <a:endParaRPr lang="en-US" sz="3600" dirty="0"/>
          </a:p>
        </p:txBody>
      </p:sp>
      <p:sp>
        <p:nvSpPr>
          <p:cNvPr id="4" name="Eval step 1 circle"/>
          <p:cNvSpPr/>
          <p:nvPr/>
        </p:nvSpPr>
        <p:spPr>
          <a:xfrm>
            <a:off x="548640" y="16916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Eval step 1 label"/>
          <p:cNvSpPr txBox="1"/>
          <p:nvPr/>
        </p:nvSpPr>
        <p:spPr>
          <a:xfrm>
            <a:off x="548640" y="1691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Eval step 1 text"/>
          <p:cNvSpPr txBox="1"/>
          <p:nvPr/>
        </p:nvSpPr>
        <p:spPr>
          <a:xfrm>
            <a:off x="1371600" y="1645920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Take a closed issue that a merged pull request fixed.</a:t>
            </a:r>
            <a:endParaRPr lang="en-US" sz="1800" dirty="0"/>
          </a:p>
        </p:txBody>
      </p:sp>
      <p:sp>
        <p:nvSpPr>
          <p:cNvPr id="7" name="Eval step 2 circle"/>
          <p:cNvSpPr/>
          <p:nvPr/>
        </p:nvSpPr>
        <p:spPr>
          <a:xfrm>
            <a:off x="548640" y="278892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Eval step 2 label"/>
          <p:cNvSpPr txBox="1"/>
          <p:nvPr/>
        </p:nvSpPr>
        <p:spPr>
          <a:xfrm>
            <a:off x="548640" y="2788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9" name="Eval step 2 text"/>
          <p:cNvSpPr txBox="1"/>
          <p:nvPr/>
        </p:nvSpPr>
        <p:spPr>
          <a:xfrm>
            <a:off x="1371600" y="2743200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Go back to the commit just before that fix.</a:t>
            </a:r>
            <a:endParaRPr lang="en-US" sz="1800" dirty="0"/>
          </a:p>
        </p:txBody>
      </p:sp>
      <p:sp>
        <p:nvSpPr>
          <p:cNvPr id="10" name="Eval step 3 circle"/>
          <p:cNvSpPr/>
          <p:nvPr/>
        </p:nvSpPr>
        <p:spPr>
          <a:xfrm>
            <a:off x="548640" y="388620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Eval step 3 label"/>
          <p:cNvSpPr txBox="1"/>
          <p:nvPr/>
        </p:nvSpPr>
        <p:spPr>
          <a:xfrm>
            <a:off x="548640" y="3886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2" name="Eval step 3 text"/>
          <p:cNvSpPr txBox="1"/>
          <p:nvPr/>
        </p:nvSpPr>
        <p:spPr>
          <a:xfrm>
            <a:off x="1371600" y="3840480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Run with the screenshot, then with text only.</a:t>
            </a:r>
            <a:endParaRPr lang="en-US" sz="1800" dirty="0"/>
          </a:p>
        </p:txBody>
      </p:sp>
      <p:sp>
        <p:nvSpPr>
          <p:cNvPr id="13" name="Eval step 4 circle"/>
          <p:cNvSpPr/>
          <p:nvPr/>
        </p:nvSpPr>
        <p:spPr>
          <a:xfrm>
            <a:off x="548640" y="498348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Eval step 4 label"/>
          <p:cNvSpPr txBox="1"/>
          <p:nvPr/>
        </p:nvSpPr>
        <p:spPr>
          <a:xfrm>
            <a:off x="548640" y="4983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5" name="Eval step 4 text"/>
          <p:cNvSpPr txBox="1"/>
          <p:nvPr/>
        </p:nvSpPr>
        <p:spPr>
          <a:xfrm>
            <a:off x="1371600" y="4937760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Hit at k: is a file from the real fix among the top k?</a:t>
            </a:r>
            <a:endParaRPr lang="en-US" sz="1800" dirty="0"/>
          </a:p>
        </p:txBody>
      </p:sp>
      <p:sp>
        <p:nvSpPr>
          <p:cNvPr id="16" name="Results card"/>
          <p:cNvSpPr/>
          <p:nvPr/>
        </p:nvSpPr>
        <p:spPr>
          <a:xfrm>
            <a:off x="6858000" y="1554480"/>
            <a:ext cx="4782312" cy="4343400"/>
          </a:xfrm>
          <a:prstGeom prst="roundRect">
            <a:avLst>
              <a:gd name="adj" fmla="val 2105"/>
            </a:avLst>
          </a:prstGeom>
          <a:solidFill>
            <a:schemeClr val="bg2"/>
          </a:solidFill>
          <a:ln/>
        </p:spPr>
      </p:sp>
      <p:sp>
        <p:nvSpPr>
          <p:cNvPr id="17" name="Results heading"/>
          <p:cNvSpPr txBox="1"/>
          <p:nvPr/>
        </p:nvSpPr>
        <p:spPr>
          <a:xfrm>
            <a:off x="7132320" y="178308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Results</a:t>
            </a:r>
            <a:endParaRPr lang="en-US" sz="2200" dirty="0"/>
          </a:p>
        </p:txBody>
      </p:sp>
      <p:sp>
        <p:nvSpPr>
          <p:cNvPr id="18" name="Metric chip 1"/>
          <p:cNvSpPr/>
          <p:nvPr/>
        </p:nvSpPr>
        <p:spPr>
          <a:xfrm>
            <a:off x="7132320" y="2377440"/>
            <a:ext cx="914400" cy="34747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9" name="Metric chip 1 text"/>
          <p:cNvSpPr txBox="1"/>
          <p:nvPr/>
        </p:nvSpPr>
        <p:spPr>
          <a:xfrm>
            <a:off x="7132320" y="237744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hit@1</a:t>
            </a:r>
            <a:endParaRPr lang="en-US" sz="1300" dirty="0"/>
          </a:p>
        </p:txBody>
      </p:sp>
      <p:sp>
        <p:nvSpPr>
          <p:cNvPr id="20" name="Metric chip 2"/>
          <p:cNvSpPr/>
          <p:nvPr/>
        </p:nvSpPr>
        <p:spPr>
          <a:xfrm>
            <a:off x="8165592" y="2377440"/>
            <a:ext cx="914400" cy="34747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1" name="Metric chip 2 text"/>
          <p:cNvSpPr txBox="1"/>
          <p:nvPr/>
        </p:nvSpPr>
        <p:spPr>
          <a:xfrm>
            <a:off x="8165592" y="237744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hit@3</a:t>
            </a:r>
            <a:endParaRPr lang="en-US" sz="1300" dirty="0"/>
          </a:p>
        </p:txBody>
      </p:sp>
      <p:sp>
        <p:nvSpPr>
          <p:cNvPr id="22" name="Metric chip 3"/>
          <p:cNvSpPr/>
          <p:nvPr/>
        </p:nvSpPr>
        <p:spPr>
          <a:xfrm>
            <a:off x="9198864" y="2377440"/>
            <a:ext cx="914400" cy="34747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3" name="Metric chip 3 text"/>
          <p:cNvSpPr txBox="1"/>
          <p:nvPr/>
        </p:nvSpPr>
        <p:spPr>
          <a:xfrm>
            <a:off x="9198864" y="237744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hit@5</a:t>
            </a:r>
            <a:endParaRPr lang="en-US" sz="1300" dirty="0"/>
          </a:p>
        </p:txBody>
      </p:sp>
      <p:sp>
        <p:nvSpPr>
          <p:cNvPr id="24" name="Metric chip 4"/>
          <p:cNvSpPr/>
          <p:nvPr/>
        </p:nvSpPr>
        <p:spPr>
          <a:xfrm>
            <a:off x="10232136" y="2377440"/>
            <a:ext cx="914400" cy="34747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5" name="Metric chip 4 text"/>
          <p:cNvSpPr txBox="1"/>
          <p:nvPr/>
        </p:nvSpPr>
        <p:spPr>
          <a:xfrm>
            <a:off x="10232136" y="237744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MRR</a:t>
            </a:r>
            <a:endParaRPr lang="en-US" sz="1300" dirty="0"/>
          </a:p>
        </p:txBody>
      </p:sp>
      <p:sp>
        <p:nvSpPr>
          <p:cNvPr id="26" name="Results placeholder"/>
          <p:cNvSpPr txBox="1"/>
          <p:nvPr/>
        </p:nvSpPr>
        <p:spPr>
          <a:xfrm>
            <a:off x="7132320" y="306324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[TODO: run python -m buglens.eval run eval/cases.yaml and paste the real table here]</a:t>
            </a:r>
            <a:endParaRPr lang="en-US" sz="1800" dirty="0"/>
          </a:p>
        </p:txBody>
      </p:sp>
      <p:sp>
        <p:nvSpPr>
          <p:cNvPr id="27" name="Results note"/>
          <p:cNvSpPr txBox="1"/>
          <p:nvPr/>
        </p:nvSpPr>
        <p:spPr>
          <a:xfrm>
            <a:off x="7132320" y="452628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Both variants are reported side by side, so the gain from the screenshot is a measured number. Cases that fail count as misses.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Open-source AI at the core</a:t>
            </a:r>
            <a:endParaRPr lang="en-US" sz="3600" dirty="0"/>
          </a:p>
        </p:txBody>
      </p:sp>
      <p:sp>
        <p:nvSpPr>
          <p:cNvPr id="4" name="Gemma card"/>
          <p:cNvSpPr/>
          <p:nvPr/>
        </p:nvSpPr>
        <p:spPr>
          <a:xfrm>
            <a:off x="548640" y="1554480"/>
            <a:ext cx="5120640" cy="2103120"/>
          </a:xfrm>
          <a:prstGeom prst="roundRect">
            <a:avLst>
              <a:gd name="adj" fmla="val 4348"/>
            </a:avLst>
          </a:prstGeom>
          <a:solidFill>
            <a:schemeClr val="accent2"/>
          </a:solidFill>
          <a:ln/>
        </p:spPr>
      </p:sp>
      <p:sp>
        <p:nvSpPr>
          <p:cNvPr id="5" name="Gemma heading"/>
          <p:cNvSpPr txBox="1"/>
          <p:nvPr/>
        </p:nvSpPr>
        <p:spPr>
          <a:xfrm>
            <a:off x="777240" y="16916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Gemma 4</a:t>
            </a:r>
            <a:endParaRPr lang="en-US" sz="2600" dirty="0"/>
          </a:p>
        </p:txBody>
      </p:sp>
      <p:sp>
        <p:nvSpPr>
          <p:cNvPr id="6" name="Gemma detail"/>
          <p:cNvSpPr txBox="1"/>
          <p:nvPr/>
        </p:nvSpPr>
        <p:spPr>
          <a:xfrm>
            <a:off x="777240" y="216712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Open weights, called through the Gemini API</a:t>
            </a:r>
            <a:endParaRPr lang="en-US" sz="1300" dirty="0"/>
          </a:p>
        </p:txBody>
      </p:sp>
      <p:sp>
        <p:nvSpPr>
          <p:cNvPr id="7" name="Gemma jobs"/>
          <p:cNvSpPr txBox="1"/>
          <p:nvPr/>
        </p:nvSpPr>
        <p:spPr>
          <a:xfrm>
            <a:off x="777240" y="2542032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Reads the screenshot</a:t>
            </a:r>
            <a:endParaRPr lang="en-US" sz="14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Ranks the candidate files</a:t>
            </a:r>
            <a:endParaRPr lang="en-US" sz="14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Writes the issue draft and the brief</a:t>
            </a:r>
            <a:endParaRPr lang="en-US" sz="1400" dirty="0"/>
          </a:p>
        </p:txBody>
      </p:sp>
      <p:sp>
        <p:nvSpPr>
          <p:cNvPr id="8" name="Embedding card"/>
          <p:cNvSpPr/>
          <p:nvPr/>
        </p:nvSpPr>
        <p:spPr>
          <a:xfrm>
            <a:off x="548640" y="3840480"/>
            <a:ext cx="5120640" cy="210312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/>
        </p:spPr>
      </p:sp>
      <p:sp>
        <p:nvSpPr>
          <p:cNvPr id="9" name="Embedding heading"/>
          <p:cNvSpPr txBox="1"/>
          <p:nvPr/>
        </p:nvSpPr>
        <p:spPr>
          <a:xfrm>
            <a:off x="777240" y="39776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bge-small-en-v1.5</a:t>
            </a:r>
            <a:endParaRPr lang="en-US" sz="2600" dirty="0"/>
          </a:p>
        </p:txBody>
      </p:sp>
      <p:sp>
        <p:nvSpPr>
          <p:cNvPr id="10" name="Embedding detail"/>
          <p:cNvSpPr txBox="1"/>
          <p:nvPr/>
        </p:nvSpPr>
        <p:spPr>
          <a:xfrm>
            <a:off x="777240" y="445312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MIT license, on the CPU with fastembed and ONNX Runtime</a:t>
            </a:r>
            <a:endParaRPr lang="en-US" sz="1300" dirty="0"/>
          </a:p>
        </p:txBody>
      </p:sp>
      <p:sp>
        <p:nvSpPr>
          <p:cNvPr id="11" name="Embedding jobs"/>
          <p:cNvSpPr txBox="1"/>
          <p:nvPr/>
        </p:nvSpPr>
        <p:spPr>
          <a:xfrm>
            <a:off x="777240" y="4828032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Semantic code search</a:t>
            </a:r>
            <a:endParaRPr lang="en-US" sz="14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Similar-issue check</a:t>
            </a:r>
            <a:endParaRPr lang="en-US" sz="14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 GPU and no vector database</a:t>
            </a:r>
            <a:endParaRPr lang="en-US" sz="1400" dirty="0"/>
          </a:p>
        </p:txBody>
      </p:sp>
      <p:graphicFrame>
        <p:nvGraphicFramePr>
          <p:cNvPr id="11" name="Librarie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0" y="1554480"/>
          <a:ext cx="5605272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2468880"/>
                <a:gridCol w="1444752"/>
              </a:tblGrid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Library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Role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License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google-genai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Gemini API client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Apache-2.0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fastembed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Local embeddings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Apache-2.0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ONNX Runtime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Runs the embedding model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MIT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NumPy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Vectors and similarity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BSD-3-Clause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pydantic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Models and validation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MIT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Streamlit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Web interface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Apache-2.0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requests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HTTP calls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Apache-2.0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Pillow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Screenshot handling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MIT-CMU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PyYAML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Templates and case files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MIT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python-dotenv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Loads the .env file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BSD-3-Clause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pytest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Tests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MIT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raining note"/>
          <p:cNvSpPr txBox="1"/>
          <p:nvPr/>
        </p:nvSpPr>
        <p:spPr>
          <a:xfrm>
            <a:off x="6035040" y="5870448"/>
            <a:ext cx="5605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No model was trained or fine-tuned.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Engineering decisions</a:t>
            </a:r>
            <a:endParaRPr lang="en-US" sz="3600" dirty="0"/>
          </a:p>
        </p:txBody>
      </p:sp>
      <p:graphicFrame>
        <p:nvGraphicFramePr>
          <p:cNvPr id="12" name="Decision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7525512"/>
              </a:tblGrid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Decision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Why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fastembed, not PyTorch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Small install and CPU only, so the same code runs on a laptop and in a small container.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Zipball API, not git clone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One HTTPS download per commit. Nothing to install, and the cache key is the commit SHA.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Tolerant JSON parsing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Gemma may not offer JSON mode, so replies are parsed defensively, validated and repaired once.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Embeddings keyed by content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Another commit of the same repository only embeds the chunks whose text changed.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Duplicate check without the model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Local embeddings rank existing issues. No model quota, and issue text never enters a prompt.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Thinking level is opt-in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A minimal setting gives much faster replies, but not every model accepts it.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Tested without network or keys</a:t>
            </a:r>
            <a:endParaRPr lang="en-US" sz="3600" dirty="0"/>
          </a:p>
        </p:txBody>
      </p:sp>
      <p:sp>
        <p:nvSpPr>
          <p:cNvPr id="4" name="Tests stat card"/>
          <p:cNvSpPr/>
          <p:nvPr/>
        </p:nvSpPr>
        <p:spPr>
          <a:xfrm>
            <a:off x="548640" y="1554480"/>
            <a:ext cx="3840480" cy="4343400"/>
          </a:xfrm>
          <a:prstGeom prst="roundRect">
            <a:avLst>
              <a:gd name="adj" fmla="val 2381"/>
            </a:avLst>
          </a:prstGeom>
          <a:solidFill>
            <a:schemeClr val="tx1"/>
          </a:solidFill>
          <a:ln/>
        </p:spPr>
      </p:sp>
      <p:sp>
        <p:nvSpPr>
          <p:cNvPr id="5" name="Tests number"/>
          <p:cNvSpPr txBox="1"/>
          <p:nvPr/>
        </p:nvSpPr>
        <p:spPr>
          <a:xfrm>
            <a:off x="777240" y="192024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0" b="1" dirty="0">
                <a:solidFill>
                  <a:schemeClr val="accent2"/>
                </a:solidFill>
              </a:rPr>
              <a:t>184</a:t>
            </a:r>
            <a:endParaRPr lang="en-US" sz="11000" dirty="0"/>
          </a:p>
        </p:txBody>
      </p:sp>
      <p:sp>
        <p:nvSpPr>
          <p:cNvPr id="6" name="Tests label"/>
          <p:cNvSpPr txBox="1"/>
          <p:nvPr/>
        </p:nvSpPr>
        <p:spPr>
          <a:xfrm>
            <a:off x="777240" y="35204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offline tests</a:t>
            </a:r>
            <a:endParaRPr lang="en-US" sz="2600" dirty="0"/>
          </a:p>
        </p:txBody>
      </p:sp>
      <p:sp>
        <p:nvSpPr>
          <p:cNvPr id="7" name="Tests detail"/>
          <p:cNvSpPr txBox="1"/>
          <p:nvPr/>
        </p:nvSpPr>
        <p:spPr>
          <a:xfrm>
            <a:off x="777240" y="411480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No network and no API key needed. Run with pytest -q.</a:t>
            </a:r>
            <a:endParaRPr lang="en-US" sz="1500" dirty="0"/>
          </a:p>
        </p:txBody>
      </p:sp>
      <p:sp>
        <p:nvSpPr>
          <p:cNvPr id="8" name="Area 1 box"/>
          <p:cNvSpPr/>
          <p:nvPr/>
        </p:nvSpPr>
        <p:spPr>
          <a:xfrm>
            <a:off x="4754880" y="1554480"/>
            <a:ext cx="3374136" cy="41148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</p:sp>
      <p:sp>
        <p:nvSpPr>
          <p:cNvPr id="9" name="Area 1 text"/>
          <p:cNvSpPr txBox="1"/>
          <p:nvPr/>
        </p:nvSpPr>
        <p:spPr>
          <a:xfrm>
            <a:off x="4937760" y="15544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URL parsing</a:t>
            </a:r>
            <a:endParaRPr lang="en-US" sz="1400" dirty="0"/>
          </a:p>
        </p:txBody>
      </p:sp>
      <p:sp>
        <p:nvSpPr>
          <p:cNvPr id="10" name="Area 2 box"/>
          <p:cNvSpPr/>
          <p:nvPr/>
        </p:nvSpPr>
        <p:spPr>
          <a:xfrm>
            <a:off x="8266176" y="1554480"/>
            <a:ext cx="3374136" cy="41148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</p:sp>
      <p:sp>
        <p:nvSpPr>
          <p:cNvPr id="11" name="Area 2 text"/>
          <p:cNvSpPr txBox="1"/>
          <p:nvPr/>
        </p:nvSpPr>
        <p:spPr>
          <a:xfrm>
            <a:off x="8449056" y="15544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File filtering</a:t>
            </a:r>
            <a:endParaRPr lang="en-US" sz="1400" dirty="0"/>
          </a:p>
        </p:txBody>
      </p:sp>
      <p:sp>
        <p:nvSpPr>
          <p:cNvPr id="12" name="Area 3 box"/>
          <p:cNvSpPr/>
          <p:nvPr/>
        </p:nvSpPr>
        <p:spPr>
          <a:xfrm>
            <a:off x="4754880" y="2093976"/>
            <a:ext cx="3374136" cy="41148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</p:sp>
      <p:sp>
        <p:nvSpPr>
          <p:cNvPr id="13" name="Area 3 text"/>
          <p:cNvSpPr txBox="1"/>
          <p:nvPr/>
        </p:nvSpPr>
        <p:spPr>
          <a:xfrm>
            <a:off x="4937760" y="2093976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Chunking</a:t>
            </a:r>
            <a:endParaRPr lang="en-US" sz="1400" dirty="0"/>
          </a:p>
        </p:txBody>
      </p:sp>
      <p:sp>
        <p:nvSpPr>
          <p:cNvPr id="14" name="Area 4 box"/>
          <p:cNvSpPr/>
          <p:nvPr/>
        </p:nvSpPr>
        <p:spPr>
          <a:xfrm>
            <a:off x="8266176" y="2093976"/>
            <a:ext cx="3374136" cy="41148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</p:sp>
      <p:sp>
        <p:nvSpPr>
          <p:cNvPr id="15" name="Area 4 text"/>
          <p:cNvSpPr txBox="1"/>
          <p:nvPr/>
        </p:nvSpPr>
        <p:spPr>
          <a:xfrm>
            <a:off x="8449056" y="2093976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Template parsing</a:t>
            </a:r>
            <a:endParaRPr lang="en-US" sz="1400" dirty="0"/>
          </a:p>
        </p:txBody>
      </p:sp>
      <p:sp>
        <p:nvSpPr>
          <p:cNvPr id="16" name="Area 5 box"/>
          <p:cNvSpPr/>
          <p:nvPr/>
        </p:nvSpPr>
        <p:spPr>
          <a:xfrm>
            <a:off x="4754880" y="2633472"/>
            <a:ext cx="3374136" cy="41148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</p:sp>
      <p:sp>
        <p:nvSpPr>
          <p:cNvPr id="17" name="Area 5 text"/>
          <p:cNvSpPr txBox="1"/>
          <p:nvPr/>
        </p:nvSpPr>
        <p:spPr>
          <a:xfrm>
            <a:off x="4937760" y="263347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Retrieval scoring</a:t>
            </a:r>
            <a:endParaRPr lang="en-US" sz="1400" dirty="0"/>
          </a:p>
        </p:txBody>
      </p:sp>
      <p:sp>
        <p:nvSpPr>
          <p:cNvPr id="18" name="Area 6 box"/>
          <p:cNvSpPr/>
          <p:nvPr/>
        </p:nvSpPr>
        <p:spPr>
          <a:xfrm>
            <a:off x="8266176" y="2633472"/>
            <a:ext cx="3374136" cy="41148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</p:sp>
      <p:sp>
        <p:nvSpPr>
          <p:cNvPr id="19" name="Area 6 text"/>
          <p:cNvSpPr txBox="1"/>
          <p:nvPr/>
        </p:nvSpPr>
        <p:spPr>
          <a:xfrm>
            <a:off x="8449056" y="263347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File-name hints</a:t>
            </a:r>
            <a:endParaRPr lang="en-US" sz="1400" dirty="0"/>
          </a:p>
        </p:txBody>
      </p:sp>
      <p:sp>
        <p:nvSpPr>
          <p:cNvPr id="20" name="Area 7 box"/>
          <p:cNvSpPr/>
          <p:nvPr/>
        </p:nvSpPr>
        <p:spPr>
          <a:xfrm>
            <a:off x="4754880" y="3172968"/>
            <a:ext cx="3374136" cy="41148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</p:sp>
      <p:sp>
        <p:nvSpPr>
          <p:cNvPr id="21" name="Area 7 text"/>
          <p:cNvSpPr txBox="1"/>
          <p:nvPr/>
        </p:nvSpPr>
        <p:spPr>
          <a:xfrm>
            <a:off x="4937760" y="317296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Code evidence</a:t>
            </a:r>
            <a:endParaRPr lang="en-US" sz="1400" dirty="0"/>
          </a:p>
        </p:txBody>
      </p:sp>
      <p:sp>
        <p:nvSpPr>
          <p:cNvPr id="22" name="Area 8 box"/>
          <p:cNvSpPr/>
          <p:nvPr/>
        </p:nvSpPr>
        <p:spPr>
          <a:xfrm>
            <a:off x="8266176" y="3172968"/>
            <a:ext cx="3374136" cy="41148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</p:sp>
      <p:sp>
        <p:nvSpPr>
          <p:cNvPr id="23" name="Area 8 text"/>
          <p:cNvSpPr txBox="1"/>
          <p:nvPr/>
        </p:nvSpPr>
        <p:spPr>
          <a:xfrm>
            <a:off x="8449056" y="317296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Similar issues</a:t>
            </a:r>
            <a:endParaRPr lang="en-US" sz="1400" dirty="0"/>
          </a:p>
        </p:txBody>
      </p:sp>
      <p:sp>
        <p:nvSpPr>
          <p:cNvPr id="24" name="Area 9 box"/>
          <p:cNvSpPr/>
          <p:nvPr/>
        </p:nvSpPr>
        <p:spPr>
          <a:xfrm>
            <a:off x="4754880" y="3712464"/>
            <a:ext cx="3374136" cy="41148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</p:sp>
      <p:sp>
        <p:nvSpPr>
          <p:cNvPr id="25" name="Area 9 text"/>
          <p:cNvSpPr txBox="1"/>
          <p:nvPr/>
        </p:nvSpPr>
        <p:spPr>
          <a:xfrm>
            <a:off x="4937760" y="3712464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Embedding reuse</a:t>
            </a:r>
            <a:endParaRPr lang="en-US" sz="1400" dirty="0"/>
          </a:p>
        </p:txBody>
      </p:sp>
      <p:sp>
        <p:nvSpPr>
          <p:cNvPr id="26" name="Area 10 box"/>
          <p:cNvSpPr/>
          <p:nvPr/>
        </p:nvSpPr>
        <p:spPr>
          <a:xfrm>
            <a:off x="8266176" y="3712464"/>
            <a:ext cx="3374136" cy="41148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</p:sp>
      <p:sp>
        <p:nvSpPr>
          <p:cNvPr id="27" name="Area 10 text"/>
          <p:cNvSpPr txBox="1"/>
          <p:nvPr/>
        </p:nvSpPr>
        <p:spPr>
          <a:xfrm>
            <a:off x="8449056" y="3712464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JSON parsing and repair</a:t>
            </a:r>
            <a:endParaRPr lang="en-US" sz="1400" dirty="0"/>
          </a:p>
        </p:txBody>
      </p:sp>
      <p:sp>
        <p:nvSpPr>
          <p:cNvPr id="28" name="Area 11 box"/>
          <p:cNvSpPr/>
          <p:nvPr/>
        </p:nvSpPr>
        <p:spPr>
          <a:xfrm>
            <a:off x="4754880" y="4251960"/>
            <a:ext cx="3374136" cy="41148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</p:sp>
      <p:sp>
        <p:nvSpPr>
          <p:cNvPr id="29" name="Area 11 text"/>
          <p:cNvSpPr txBox="1"/>
          <p:nvPr/>
        </p:nvSpPr>
        <p:spPr>
          <a:xfrm>
            <a:off x="4937760" y="42519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Hallucination guard</a:t>
            </a:r>
            <a:endParaRPr lang="en-US" sz="1400" dirty="0"/>
          </a:p>
        </p:txBody>
      </p:sp>
      <p:sp>
        <p:nvSpPr>
          <p:cNvPr id="30" name="Area 12 box"/>
          <p:cNvSpPr/>
          <p:nvPr/>
        </p:nvSpPr>
        <p:spPr>
          <a:xfrm>
            <a:off x="8266176" y="4251960"/>
            <a:ext cx="3374136" cy="41148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</p:sp>
      <p:sp>
        <p:nvSpPr>
          <p:cNvPr id="31" name="Area 12 text"/>
          <p:cNvSpPr txBox="1"/>
          <p:nvPr/>
        </p:nvSpPr>
        <p:spPr>
          <a:xfrm>
            <a:off x="8449056" y="42519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Label filtering</a:t>
            </a:r>
            <a:endParaRPr lang="en-US" sz="1400" dirty="0"/>
          </a:p>
        </p:txBody>
      </p:sp>
      <p:sp>
        <p:nvSpPr>
          <p:cNvPr id="32" name="Area 13 box"/>
          <p:cNvSpPr/>
          <p:nvPr/>
        </p:nvSpPr>
        <p:spPr>
          <a:xfrm>
            <a:off x="4754880" y="4791456"/>
            <a:ext cx="3374136" cy="41148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</p:sp>
      <p:sp>
        <p:nvSpPr>
          <p:cNvPr id="33" name="Area 13 text"/>
          <p:cNvSpPr txBox="1"/>
          <p:nvPr/>
        </p:nvSpPr>
        <p:spPr>
          <a:xfrm>
            <a:off x="4937760" y="4791456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Eval metrics</a:t>
            </a:r>
            <a:endParaRPr lang="en-US" sz="1400" dirty="0"/>
          </a:p>
        </p:txBody>
      </p:sp>
      <p:sp>
        <p:nvSpPr>
          <p:cNvPr id="34" name="Area 14 box"/>
          <p:cNvSpPr/>
          <p:nvPr/>
        </p:nvSpPr>
        <p:spPr>
          <a:xfrm>
            <a:off x="8266176" y="4791456"/>
            <a:ext cx="3374136" cy="41148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</p:sp>
      <p:sp>
        <p:nvSpPr>
          <p:cNvPr id="35" name="Area 14 text"/>
          <p:cNvSpPr txBox="1"/>
          <p:nvPr/>
        </p:nvSpPr>
        <p:spPr>
          <a:xfrm>
            <a:off x="8449056" y="4791456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Full pipeline, fake model</a:t>
            </a:r>
            <a:endParaRPr lang="en-US" sz="1400" dirty="0"/>
          </a:p>
        </p:txBody>
      </p:sp>
      <p:sp>
        <p:nvSpPr>
          <p:cNvPr id="36" name="Live scripts"/>
          <p:cNvSpPr txBox="1"/>
          <p:nvPr/>
        </p:nvSpPr>
        <p:spPr>
          <a:xfrm>
            <a:off x="4754880" y="5394960"/>
            <a:ext cx="6885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scripts/check_gemma.py</a:t>
            </a:r>
            <a:pPr algn="l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  go or no-go for the model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scripts/smoke_test.py</a:t>
            </a:r>
            <a:pPr algn="l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  one real end-to-end run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Challenges and what we learned</a:t>
            </a:r>
            <a:endParaRPr lang="en-US" sz="3600" dirty="0"/>
          </a:p>
        </p:txBody>
      </p:sp>
      <p:sp>
        <p:nvSpPr>
          <p:cNvPr id="4" name="Challenge column label"/>
          <p:cNvSpPr txBox="1"/>
          <p:nvPr/>
        </p:nvSpPr>
        <p:spPr>
          <a:xfrm>
            <a:off x="548640" y="1463040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5"/>
                </a:solidFill>
              </a:rPr>
              <a:t>CHALLENGE</a:t>
            </a:r>
            <a:endParaRPr lang="en-US" sz="1100" dirty="0"/>
          </a:p>
        </p:txBody>
      </p:sp>
      <p:sp>
        <p:nvSpPr>
          <p:cNvPr id="5" name="Response column label"/>
          <p:cNvSpPr txBox="1"/>
          <p:nvPr/>
        </p:nvSpPr>
        <p:spPr>
          <a:xfrm>
            <a:off x="6309360" y="1463040"/>
            <a:ext cx="5330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5"/>
                </a:solidFill>
              </a:rPr>
              <a:t>WHAT WE DID</a:t>
            </a:r>
            <a:endParaRPr lang="en-US" sz="1100" dirty="0"/>
          </a:p>
        </p:txBody>
      </p:sp>
      <p:sp>
        <p:nvSpPr>
          <p:cNvPr id="6" name="Challenge 1 card"/>
          <p:cNvSpPr/>
          <p:nvPr/>
        </p:nvSpPr>
        <p:spPr>
          <a:xfrm>
            <a:off x="548640" y="1755648"/>
            <a:ext cx="5120640" cy="896112"/>
          </a:xfrm>
          <a:prstGeom prst="roundRect">
            <a:avLst>
              <a:gd name="adj" fmla="val 10204"/>
            </a:avLst>
          </a:prstGeom>
          <a:solidFill>
            <a:schemeClr val="bg1"/>
          </a:solidFill>
          <a:ln/>
        </p:spPr>
      </p:sp>
      <p:sp>
        <p:nvSpPr>
          <p:cNvPr id="7" name="Challenge 1 outline"/>
          <p:cNvSpPr/>
          <p:nvPr/>
        </p:nvSpPr>
        <p:spPr>
          <a:xfrm>
            <a:off x="548640" y="1755648"/>
            <a:ext cx="5120640" cy="896112"/>
          </a:xfrm>
          <a:prstGeom prst="roundRect">
            <a:avLst>
              <a:gd name="adj" fmla="val 10204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Challenge 1 text"/>
          <p:cNvSpPr txBox="1"/>
          <p:nvPr/>
        </p:nvSpPr>
        <p:spPr>
          <a:xfrm>
            <a:off x="777240" y="1755648"/>
            <a:ext cx="46634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API withheld replies (RECITATION) when Gemma copied long on-screen text.</a:t>
            </a:r>
            <a:endParaRPr lang="en-US" sz="1400" dirty="0"/>
          </a:p>
        </p:txBody>
      </p:sp>
      <p:sp>
        <p:nvSpPr>
          <p:cNvPr id="9" name="Challenge 1 arrow"/>
          <p:cNvSpPr/>
          <p:nvPr/>
        </p:nvSpPr>
        <p:spPr>
          <a:xfrm>
            <a:off x="5870448" y="2093976"/>
            <a:ext cx="219456" cy="219456"/>
          </a:xfrm>
          <a:prstGeom prst="rightArrow">
            <a:avLst/>
          </a:prstGeom>
          <a:solidFill>
            <a:schemeClr val="accent5"/>
          </a:solidFill>
          <a:ln/>
        </p:spPr>
      </p:sp>
      <p:sp>
        <p:nvSpPr>
          <p:cNvPr id="10" name="Response 1 card"/>
          <p:cNvSpPr/>
          <p:nvPr/>
        </p:nvSpPr>
        <p:spPr>
          <a:xfrm>
            <a:off x="6309360" y="1755648"/>
            <a:ext cx="5330952" cy="896112"/>
          </a:xfrm>
          <a:prstGeom prst="roundRect">
            <a:avLst>
              <a:gd name="adj" fmla="val 10204"/>
            </a:avLst>
          </a:prstGeom>
          <a:solidFill>
            <a:schemeClr val="bg2"/>
          </a:solidFill>
          <a:ln/>
        </p:spPr>
      </p:sp>
      <p:sp>
        <p:nvSpPr>
          <p:cNvPr id="11" name="Response 1 text"/>
          <p:cNvSpPr txBox="1"/>
          <p:nvPr/>
        </p:nvSpPr>
        <p:spPr>
          <a:xfrm>
            <a:off x="6537960" y="1755648"/>
            <a:ext cx="48737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Ask only for short UI strings, retry once, and report the real cause.</a:t>
            </a:r>
            <a:endParaRPr lang="en-US" sz="1400" dirty="0"/>
          </a:p>
        </p:txBody>
      </p:sp>
      <p:sp>
        <p:nvSpPr>
          <p:cNvPr id="12" name="Challenge 2 card"/>
          <p:cNvSpPr/>
          <p:nvPr/>
        </p:nvSpPr>
        <p:spPr>
          <a:xfrm>
            <a:off x="548640" y="2788920"/>
            <a:ext cx="5120640" cy="896112"/>
          </a:xfrm>
          <a:prstGeom prst="roundRect">
            <a:avLst>
              <a:gd name="adj" fmla="val 10204"/>
            </a:avLst>
          </a:prstGeom>
          <a:solidFill>
            <a:schemeClr val="bg1"/>
          </a:solidFill>
          <a:ln/>
        </p:spPr>
      </p:sp>
      <p:sp>
        <p:nvSpPr>
          <p:cNvPr id="13" name="Challenge 2 outline"/>
          <p:cNvSpPr/>
          <p:nvPr/>
        </p:nvSpPr>
        <p:spPr>
          <a:xfrm>
            <a:off x="548640" y="2788920"/>
            <a:ext cx="5120640" cy="896112"/>
          </a:xfrm>
          <a:prstGeom prst="roundRect">
            <a:avLst>
              <a:gd name="adj" fmla="val 10204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Challenge 2 text"/>
          <p:cNvSpPr txBox="1"/>
          <p:nvPr/>
        </p:nvSpPr>
        <p:spPr>
          <a:xfrm>
            <a:off x="777240" y="2788920"/>
            <a:ext cx="46634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Embedding a repository on a laptop CPU is slow.</a:t>
            </a:r>
            <a:endParaRPr lang="en-US" sz="1400" dirty="0"/>
          </a:p>
        </p:txBody>
      </p:sp>
      <p:sp>
        <p:nvSpPr>
          <p:cNvPr id="15" name="Challenge 2 arrow"/>
          <p:cNvSpPr/>
          <p:nvPr/>
        </p:nvSpPr>
        <p:spPr>
          <a:xfrm>
            <a:off x="5870448" y="3127248"/>
            <a:ext cx="219456" cy="219456"/>
          </a:xfrm>
          <a:prstGeom prst="rightArrow">
            <a:avLst/>
          </a:prstGeom>
          <a:solidFill>
            <a:schemeClr val="accent5"/>
          </a:solidFill>
          <a:ln/>
        </p:spPr>
      </p:sp>
      <p:sp>
        <p:nvSpPr>
          <p:cNvPr id="16" name="Response 2 card"/>
          <p:cNvSpPr/>
          <p:nvPr/>
        </p:nvSpPr>
        <p:spPr>
          <a:xfrm>
            <a:off x="6309360" y="2788920"/>
            <a:ext cx="5330952" cy="896112"/>
          </a:xfrm>
          <a:prstGeom prst="roundRect">
            <a:avLst>
              <a:gd name="adj" fmla="val 10204"/>
            </a:avLst>
          </a:prstGeom>
          <a:solidFill>
            <a:schemeClr val="bg2"/>
          </a:solidFill>
          <a:ln/>
        </p:spPr>
      </p:sp>
      <p:sp>
        <p:nvSpPr>
          <p:cNvPr id="17" name="Response 2 text"/>
          <p:cNvSpPr txBox="1"/>
          <p:nvPr/>
        </p:nvSpPr>
        <p:spPr>
          <a:xfrm>
            <a:off x="6537960" y="2788920"/>
            <a:ext cx="48737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Cache per commit, and reuse vectors by content hash across commits.</a:t>
            </a:r>
            <a:endParaRPr lang="en-US" sz="1400" dirty="0"/>
          </a:p>
        </p:txBody>
      </p:sp>
      <p:sp>
        <p:nvSpPr>
          <p:cNvPr id="18" name="Challenge 3 card"/>
          <p:cNvSpPr/>
          <p:nvPr/>
        </p:nvSpPr>
        <p:spPr>
          <a:xfrm>
            <a:off x="548640" y="3822192"/>
            <a:ext cx="5120640" cy="896112"/>
          </a:xfrm>
          <a:prstGeom prst="roundRect">
            <a:avLst>
              <a:gd name="adj" fmla="val 10204"/>
            </a:avLst>
          </a:prstGeom>
          <a:solidFill>
            <a:schemeClr val="bg1"/>
          </a:solidFill>
          <a:ln/>
        </p:spPr>
      </p:sp>
      <p:sp>
        <p:nvSpPr>
          <p:cNvPr id="19" name="Challenge 3 outline"/>
          <p:cNvSpPr/>
          <p:nvPr/>
        </p:nvSpPr>
        <p:spPr>
          <a:xfrm>
            <a:off x="548640" y="3822192"/>
            <a:ext cx="5120640" cy="896112"/>
          </a:xfrm>
          <a:prstGeom prst="roundRect">
            <a:avLst>
              <a:gd name="adj" fmla="val 10204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0" name="Challenge 3 text"/>
          <p:cNvSpPr txBox="1"/>
          <p:nvPr/>
        </p:nvSpPr>
        <p:spPr>
          <a:xfrm>
            <a:off x="777240" y="3822192"/>
            <a:ext cx="46634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Three model calls took over a minute.</a:t>
            </a:r>
            <a:endParaRPr lang="en-US" sz="1400" dirty="0"/>
          </a:p>
        </p:txBody>
      </p:sp>
      <p:sp>
        <p:nvSpPr>
          <p:cNvPr id="21" name="Challenge 3 arrow"/>
          <p:cNvSpPr/>
          <p:nvPr/>
        </p:nvSpPr>
        <p:spPr>
          <a:xfrm>
            <a:off x="5870448" y="4160520"/>
            <a:ext cx="219456" cy="219456"/>
          </a:xfrm>
          <a:prstGeom prst="rightArrow">
            <a:avLst/>
          </a:prstGeom>
          <a:solidFill>
            <a:schemeClr val="accent5"/>
          </a:solidFill>
          <a:ln/>
        </p:spPr>
      </p:sp>
      <p:sp>
        <p:nvSpPr>
          <p:cNvPr id="22" name="Response 3 card"/>
          <p:cNvSpPr/>
          <p:nvPr/>
        </p:nvSpPr>
        <p:spPr>
          <a:xfrm>
            <a:off x="6309360" y="3822192"/>
            <a:ext cx="5330952" cy="896112"/>
          </a:xfrm>
          <a:prstGeom prst="roundRect">
            <a:avLst>
              <a:gd name="adj" fmla="val 10204"/>
            </a:avLst>
          </a:prstGeom>
          <a:solidFill>
            <a:schemeClr val="bg2"/>
          </a:solidFill>
          <a:ln/>
        </p:spPr>
      </p:sp>
      <p:sp>
        <p:nvSpPr>
          <p:cNvPr id="23" name="Response 3 text"/>
          <p:cNvSpPr txBox="1"/>
          <p:nvPr/>
        </p:nvSpPr>
        <p:spPr>
          <a:xfrm>
            <a:off x="6537960" y="3822192"/>
            <a:ext cx="48737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An opt-in minimal thinking level: about 106 s down to 33 s in one comparison run.</a:t>
            </a:r>
            <a:endParaRPr lang="en-US" sz="1400" dirty="0"/>
          </a:p>
        </p:txBody>
      </p:sp>
      <p:sp>
        <p:nvSpPr>
          <p:cNvPr id="24" name="Challenge 4 card"/>
          <p:cNvSpPr/>
          <p:nvPr/>
        </p:nvSpPr>
        <p:spPr>
          <a:xfrm>
            <a:off x="548640" y="4855464"/>
            <a:ext cx="5120640" cy="896112"/>
          </a:xfrm>
          <a:prstGeom prst="roundRect">
            <a:avLst>
              <a:gd name="adj" fmla="val 10204"/>
            </a:avLst>
          </a:prstGeom>
          <a:solidFill>
            <a:schemeClr val="bg1"/>
          </a:solidFill>
          <a:ln/>
        </p:spPr>
      </p:sp>
      <p:sp>
        <p:nvSpPr>
          <p:cNvPr id="25" name="Challenge 4 outline"/>
          <p:cNvSpPr/>
          <p:nvPr/>
        </p:nvSpPr>
        <p:spPr>
          <a:xfrm>
            <a:off x="548640" y="4855464"/>
            <a:ext cx="5120640" cy="896112"/>
          </a:xfrm>
          <a:prstGeom prst="roundRect">
            <a:avLst>
              <a:gd name="adj" fmla="val 10204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6" name="Challenge 4 text"/>
          <p:cNvSpPr txBox="1"/>
          <p:nvPr/>
        </p:nvSpPr>
        <p:spPr>
          <a:xfrm>
            <a:off x="777240" y="4855464"/>
            <a:ext cx="46634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GitHub's issue timeline did not show the fixing pull request.</a:t>
            </a:r>
            <a:endParaRPr lang="en-US" sz="1400" dirty="0"/>
          </a:p>
        </p:txBody>
      </p:sp>
      <p:sp>
        <p:nvSpPr>
          <p:cNvPr id="27" name="Challenge 4 arrow"/>
          <p:cNvSpPr/>
          <p:nvPr/>
        </p:nvSpPr>
        <p:spPr>
          <a:xfrm>
            <a:off x="5870448" y="5193792"/>
            <a:ext cx="219456" cy="219456"/>
          </a:xfrm>
          <a:prstGeom prst="rightArrow">
            <a:avLst/>
          </a:prstGeom>
          <a:solidFill>
            <a:schemeClr val="accent5"/>
          </a:solidFill>
          <a:ln/>
        </p:spPr>
      </p:sp>
      <p:sp>
        <p:nvSpPr>
          <p:cNvPr id="28" name="Response 4 card"/>
          <p:cNvSpPr/>
          <p:nvPr/>
        </p:nvSpPr>
        <p:spPr>
          <a:xfrm>
            <a:off x="6309360" y="4855464"/>
            <a:ext cx="5330952" cy="896112"/>
          </a:xfrm>
          <a:prstGeom prst="roundRect">
            <a:avLst>
              <a:gd name="adj" fmla="val 10204"/>
            </a:avLst>
          </a:prstGeom>
          <a:solidFill>
            <a:schemeClr val="bg2"/>
          </a:solidFill>
          <a:ln/>
        </p:spPr>
      </p:sp>
      <p:sp>
        <p:nvSpPr>
          <p:cNvPr id="29" name="Response 4 text"/>
          <p:cNvSpPr txBox="1"/>
          <p:nvPr/>
        </p:nvSpPr>
        <p:spPr>
          <a:xfrm>
            <a:off x="6537960" y="4855464"/>
            <a:ext cx="48737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Read GitHub's own closed-by link through its GraphQL API.</a:t>
            </a:r>
            <a:endParaRPr lang="en-US" sz="1400" dirty="0"/>
          </a:p>
        </p:txBody>
      </p:sp>
      <p:sp>
        <p:nvSpPr>
          <p:cNvPr id="30" name="Challenges todo"/>
          <p:cNvSpPr txBox="1"/>
          <p:nvPr/>
        </p:nvSpPr>
        <p:spPr>
          <a:xfrm>
            <a:off x="548640" y="59436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[TODO: team to confirm these and add your own]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Team</a:t>
            </a:r>
            <a:endParaRPr lang="en-US" sz="3600" dirty="0"/>
          </a:p>
        </p:txBody>
      </p:sp>
      <p:sp>
        <p:nvSpPr>
          <p:cNvPr id="4" name="Team name line"/>
          <p:cNvSpPr txBox="1"/>
          <p:nvPr/>
        </p:nvSpPr>
        <p:spPr>
          <a:xfrm>
            <a:off x="548640" y="15087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Team name: [TODO: team name]</a:t>
            </a:r>
            <a:endParaRPr lang="en-US" sz="1800" dirty="0"/>
          </a:p>
        </p:txBody>
      </p:sp>
      <p:sp>
        <p:nvSpPr>
          <p:cNvPr id="5" name="Member 1 card"/>
          <p:cNvSpPr/>
          <p:nvPr/>
        </p:nvSpPr>
        <p:spPr>
          <a:xfrm>
            <a:off x="548640" y="2148840"/>
            <a:ext cx="2560320" cy="3383280"/>
          </a:xfrm>
          <a:prstGeom prst="roundRect">
            <a:avLst>
              <a:gd name="adj" fmla="val 3571"/>
            </a:avLst>
          </a:prstGeom>
          <a:solidFill>
            <a:schemeClr val="bg2"/>
          </a:solidFill>
          <a:ln/>
        </p:spPr>
      </p:sp>
      <p:sp>
        <p:nvSpPr>
          <p:cNvPr id="6" name="Member 1 circle"/>
          <p:cNvSpPr/>
          <p:nvPr/>
        </p:nvSpPr>
        <p:spPr>
          <a:xfrm>
            <a:off x="777240" y="23774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Member 1 label"/>
          <p:cNvSpPr txBox="1"/>
          <p:nvPr/>
        </p:nvSpPr>
        <p:spPr>
          <a:xfrm>
            <a:off x="777240" y="2377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Member 1 name"/>
          <p:cNvSpPr txBox="1"/>
          <p:nvPr/>
        </p:nvSpPr>
        <p:spPr>
          <a:xfrm>
            <a:off x="777240" y="31089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[TODO: name]</a:t>
            </a:r>
            <a:endParaRPr lang="en-US" sz="1800" dirty="0"/>
          </a:p>
        </p:txBody>
      </p:sp>
      <p:sp>
        <p:nvSpPr>
          <p:cNvPr id="9" name="Member 1 area"/>
          <p:cNvSpPr txBox="1"/>
          <p:nvPr/>
        </p:nvSpPr>
        <p:spPr>
          <a:xfrm>
            <a:off x="777240" y="3547872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Model integration and submission</a:t>
            </a:r>
            <a:endParaRPr lang="en-US" sz="1500" dirty="0"/>
          </a:p>
        </p:txBody>
      </p:sp>
      <p:sp>
        <p:nvSpPr>
          <p:cNvPr id="10" name="Member 1 detail"/>
          <p:cNvSpPr txBox="1"/>
          <p:nvPr/>
        </p:nvSpPr>
        <p:spPr>
          <a:xfrm>
            <a:off x="777240" y="420624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Gemma 4 calls, prompts and error handling. README and Devpost.</a:t>
            </a:r>
            <a:endParaRPr lang="en-US" sz="1400" dirty="0"/>
          </a:p>
        </p:txBody>
      </p:sp>
      <p:sp>
        <p:nvSpPr>
          <p:cNvPr id="11" name="Member 2 card"/>
          <p:cNvSpPr/>
          <p:nvPr/>
        </p:nvSpPr>
        <p:spPr>
          <a:xfrm>
            <a:off x="3392424" y="2148840"/>
            <a:ext cx="2560320" cy="3383280"/>
          </a:xfrm>
          <a:prstGeom prst="roundRect">
            <a:avLst>
              <a:gd name="adj" fmla="val 3571"/>
            </a:avLst>
          </a:prstGeom>
          <a:solidFill>
            <a:schemeClr val="bg2"/>
          </a:solidFill>
          <a:ln/>
        </p:spPr>
      </p:sp>
      <p:sp>
        <p:nvSpPr>
          <p:cNvPr id="12" name="Member 2 circle"/>
          <p:cNvSpPr/>
          <p:nvPr/>
        </p:nvSpPr>
        <p:spPr>
          <a:xfrm>
            <a:off x="3621024" y="23774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Member 2 label"/>
          <p:cNvSpPr txBox="1"/>
          <p:nvPr/>
        </p:nvSpPr>
        <p:spPr>
          <a:xfrm>
            <a:off x="3621024" y="2377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4" name="Member 2 name"/>
          <p:cNvSpPr txBox="1"/>
          <p:nvPr/>
        </p:nvSpPr>
        <p:spPr>
          <a:xfrm>
            <a:off x="3621024" y="31089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[TODO: name]</a:t>
            </a:r>
            <a:endParaRPr lang="en-US" sz="1800" dirty="0"/>
          </a:p>
        </p:txBody>
      </p:sp>
      <p:sp>
        <p:nvSpPr>
          <p:cNvPr id="15" name="Member 2 area"/>
          <p:cNvSpPr txBox="1"/>
          <p:nvPr/>
        </p:nvSpPr>
        <p:spPr>
          <a:xfrm>
            <a:off x="3621024" y="3547872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Retrieval</a:t>
            </a:r>
            <a:endParaRPr lang="en-US" sz="1500" dirty="0"/>
          </a:p>
        </p:txBody>
      </p:sp>
      <p:sp>
        <p:nvSpPr>
          <p:cNvPr id="16" name="Member 2 detail"/>
          <p:cNvSpPr txBox="1"/>
          <p:nvPr/>
        </p:nvSpPr>
        <p:spPr>
          <a:xfrm>
            <a:off x="3621024" y="420624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Embeddings, exact-text matching, file-name hints and code evidence.</a:t>
            </a:r>
            <a:endParaRPr lang="en-US" sz="1400" dirty="0"/>
          </a:p>
        </p:txBody>
      </p:sp>
      <p:sp>
        <p:nvSpPr>
          <p:cNvPr id="17" name="Member 3 card"/>
          <p:cNvSpPr/>
          <p:nvPr/>
        </p:nvSpPr>
        <p:spPr>
          <a:xfrm>
            <a:off x="6236208" y="2148840"/>
            <a:ext cx="2560320" cy="3383280"/>
          </a:xfrm>
          <a:prstGeom prst="roundRect">
            <a:avLst>
              <a:gd name="adj" fmla="val 3571"/>
            </a:avLst>
          </a:prstGeom>
          <a:solidFill>
            <a:schemeClr val="bg2"/>
          </a:solidFill>
          <a:ln/>
        </p:spPr>
      </p:sp>
      <p:sp>
        <p:nvSpPr>
          <p:cNvPr id="18" name="Member 3 circle"/>
          <p:cNvSpPr/>
          <p:nvPr/>
        </p:nvSpPr>
        <p:spPr>
          <a:xfrm>
            <a:off x="6464808" y="23774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9" name="Member 3 label"/>
          <p:cNvSpPr txBox="1"/>
          <p:nvPr/>
        </p:nvSpPr>
        <p:spPr>
          <a:xfrm>
            <a:off x="6464808" y="2377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20" name="Member 3 name"/>
          <p:cNvSpPr txBox="1"/>
          <p:nvPr/>
        </p:nvSpPr>
        <p:spPr>
          <a:xfrm>
            <a:off x="6464808" y="31089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[TODO: name]</a:t>
            </a:r>
            <a:endParaRPr lang="en-US" sz="1800" dirty="0"/>
          </a:p>
        </p:txBody>
      </p:sp>
      <p:sp>
        <p:nvSpPr>
          <p:cNvPr id="21" name="Member 3 area"/>
          <p:cNvSpPr txBox="1"/>
          <p:nvPr/>
        </p:nvSpPr>
        <p:spPr>
          <a:xfrm>
            <a:off x="6464808" y="3547872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Evaluation</a:t>
            </a:r>
            <a:endParaRPr lang="en-US" sz="1500" dirty="0"/>
          </a:p>
        </p:txBody>
      </p:sp>
      <p:sp>
        <p:nvSpPr>
          <p:cNvPr id="22" name="Member 3 detail"/>
          <p:cNvSpPr txBox="1"/>
          <p:nvPr/>
        </p:nvSpPr>
        <p:spPr>
          <a:xfrm>
            <a:off x="6464808" y="420624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Evaluation cases, the harness and the results.</a:t>
            </a:r>
            <a:endParaRPr lang="en-US" sz="1400" dirty="0"/>
          </a:p>
        </p:txBody>
      </p:sp>
      <p:sp>
        <p:nvSpPr>
          <p:cNvPr id="23" name="Member 4 card"/>
          <p:cNvSpPr/>
          <p:nvPr/>
        </p:nvSpPr>
        <p:spPr>
          <a:xfrm>
            <a:off x="9079992" y="2148840"/>
            <a:ext cx="2560320" cy="3383280"/>
          </a:xfrm>
          <a:prstGeom prst="roundRect">
            <a:avLst>
              <a:gd name="adj" fmla="val 3571"/>
            </a:avLst>
          </a:prstGeom>
          <a:solidFill>
            <a:schemeClr val="bg2"/>
          </a:solidFill>
          <a:ln/>
        </p:spPr>
      </p:sp>
      <p:sp>
        <p:nvSpPr>
          <p:cNvPr id="24" name="Member 4 circle"/>
          <p:cNvSpPr/>
          <p:nvPr/>
        </p:nvSpPr>
        <p:spPr>
          <a:xfrm>
            <a:off x="9308592" y="23774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5" name="Member 4 label"/>
          <p:cNvSpPr txBox="1"/>
          <p:nvPr/>
        </p:nvSpPr>
        <p:spPr>
          <a:xfrm>
            <a:off x="9308592" y="2377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26" name="Member 4 name"/>
          <p:cNvSpPr txBox="1"/>
          <p:nvPr/>
        </p:nvSpPr>
        <p:spPr>
          <a:xfrm>
            <a:off x="9308592" y="31089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[TODO: name]</a:t>
            </a:r>
            <a:endParaRPr lang="en-US" sz="1800" dirty="0"/>
          </a:p>
        </p:txBody>
      </p:sp>
      <p:sp>
        <p:nvSpPr>
          <p:cNvPr id="27" name="Member 4 area"/>
          <p:cNvSpPr txBox="1"/>
          <p:nvPr/>
        </p:nvSpPr>
        <p:spPr>
          <a:xfrm>
            <a:off x="9308592" y="3547872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App and demo</a:t>
            </a:r>
            <a:endParaRPr lang="en-US" sz="1500" dirty="0"/>
          </a:p>
        </p:txBody>
      </p:sp>
      <p:sp>
        <p:nvSpPr>
          <p:cNvPr id="28" name="Member 4 detail"/>
          <p:cNvSpPr txBox="1"/>
          <p:nvPr/>
        </p:nvSpPr>
        <p:spPr>
          <a:xfrm>
            <a:off x="9308592" y="420624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Streamlit app, command line, demo video and deployment.</a:t>
            </a:r>
            <a:endParaRPr lang="en-US" sz="1400" dirty="0"/>
          </a:p>
        </p:txBody>
      </p:sp>
      <p:sp>
        <p:nvSpPr>
          <p:cNvPr id="29" name="Team todo"/>
          <p:cNvSpPr txBox="1"/>
          <p:nvPr/>
        </p:nvSpPr>
        <p:spPr>
          <a:xfrm>
            <a:off x="548640" y="57607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[TODO: confirm each line matches what that person actually did]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Limits today and next steps</a:t>
            </a:r>
            <a:endParaRPr lang="en-US" sz="3600" dirty="0"/>
          </a:p>
        </p:txBody>
      </p:sp>
      <p:sp>
        <p:nvSpPr>
          <p:cNvPr id="4" name="Limits card"/>
          <p:cNvSpPr/>
          <p:nvPr/>
        </p:nvSpPr>
        <p:spPr>
          <a:xfrm>
            <a:off x="548640" y="1554480"/>
            <a:ext cx="5394960" cy="4343400"/>
          </a:xfrm>
          <a:prstGeom prst="roundRect">
            <a:avLst>
              <a:gd name="adj" fmla="val 2105"/>
            </a:avLst>
          </a:prstGeom>
          <a:solidFill>
            <a:schemeClr val="bg2"/>
          </a:solidFill>
          <a:ln/>
        </p:spPr>
      </p:sp>
      <p:sp>
        <p:nvSpPr>
          <p:cNvPr id="5" name="Limits heading"/>
          <p:cNvSpPr txBox="1"/>
          <p:nvPr/>
        </p:nvSpPr>
        <p:spPr>
          <a:xfrm>
            <a:off x="777240" y="17373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Limits today</a:t>
            </a:r>
            <a:endParaRPr lang="en-US" sz="2200" dirty="0"/>
          </a:p>
        </p:txBody>
      </p:sp>
      <p:sp>
        <p:nvSpPr>
          <p:cNvPr id="6" name="Limits list"/>
          <p:cNvSpPr txBox="1"/>
          <p:nvPr/>
        </p:nvSpPr>
        <p:spPr>
          <a:xfrm>
            <a:off x="777240" y="2331720"/>
            <a:ext cx="493776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Finds likely files. It does not fix the bug.</a:t>
            </a:r>
            <a:endParaRPr lang="en-US" sz="17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In apps with translation files, on-screen labels match the locale file, not the component.</a:t>
            </a:r>
            <a:endParaRPr lang="en-US" sz="17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Public GitHub repositories only, up to a 60 MB download.</a:t>
            </a:r>
            <a:endParaRPr lang="en-US" sz="17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The similar-issue threshold was tuned by eye on one repository.</a:t>
            </a:r>
            <a:endParaRPr lang="en-US" sz="17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The Ollama backend and deployment are untested.</a:t>
            </a:r>
            <a:endParaRPr lang="en-US" sz="1700" dirty="0"/>
          </a:p>
        </p:txBody>
      </p:sp>
      <p:sp>
        <p:nvSpPr>
          <p:cNvPr id="7" name="Next card"/>
          <p:cNvSpPr/>
          <p:nvPr/>
        </p:nvSpPr>
        <p:spPr>
          <a:xfrm>
            <a:off x="6245352" y="1554480"/>
            <a:ext cx="5394960" cy="4343400"/>
          </a:xfrm>
          <a:prstGeom prst="roundRect">
            <a:avLst>
              <a:gd name="adj" fmla="val 2105"/>
            </a:avLst>
          </a:prstGeom>
          <a:solidFill>
            <a:schemeClr val="tx1"/>
          </a:solidFill>
          <a:ln/>
        </p:spPr>
      </p:sp>
      <p:sp>
        <p:nvSpPr>
          <p:cNvPr id="8" name="Next heading"/>
          <p:cNvSpPr txBox="1"/>
          <p:nvPr/>
        </p:nvSpPr>
        <p:spPr>
          <a:xfrm>
            <a:off x="6473952" y="17373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Next steps</a:t>
            </a:r>
            <a:endParaRPr lang="en-US" sz="2200" dirty="0"/>
          </a:p>
        </p:txBody>
      </p:sp>
      <p:sp>
        <p:nvSpPr>
          <p:cNvPr id="9" name="Next list"/>
          <p:cNvSpPr txBox="1"/>
          <p:nvPr/>
        </p:nvSpPr>
        <p:spPr>
          <a:xfrm>
            <a:off x="6473952" y="2331720"/>
            <a:ext cx="493776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Follow translation keys from the locale file to the component that uses them.</a:t>
            </a:r>
            <a:endParaRPr lang="en-US" sz="17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Run the evaluation on real cases and publish the numbers.</a:t>
            </a:r>
            <a:endParaRPr lang="en-US" sz="17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Verify a fully local run with Gemma on Ollama.</a:t>
            </a:r>
            <a:endParaRPr lang="en-US" sz="17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Deploy the app and add the live link.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097280"/>
            <a:ext cx="10698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Suggestions only. Verify before filing</a:t>
            </a:r>
            <a:endParaRPr lang="en-US" sz="4000" dirty="0"/>
          </a:p>
        </p:txBody>
      </p:sp>
      <p:sp>
        <p:nvSpPr>
          <p:cNvPr id="3" name="Link 1 label"/>
          <p:cNvSpPr txBox="1"/>
          <p:nvPr/>
        </p:nvSpPr>
        <p:spPr>
          <a:xfrm>
            <a:off x="731520" y="29260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Repository</a:t>
            </a:r>
            <a:endParaRPr lang="en-US" sz="1800" dirty="0"/>
          </a:p>
        </p:txBody>
      </p:sp>
      <p:sp>
        <p:nvSpPr>
          <p:cNvPr id="4" name="Link 1 value"/>
          <p:cNvSpPr txBox="1"/>
          <p:nvPr/>
        </p:nvSpPr>
        <p:spPr>
          <a:xfrm>
            <a:off x="2834640" y="292608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[TODO: repository URL]</a:t>
            </a:r>
            <a:endParaRPr lang="en-US" sz="1800" dirty="0"/>
          </a:p>
        </p:txBody>
      </p:sp>
      <p:sp>
        <p:nvSpPr>
          <p:cNvPr id="5" name="Link 2 label"/>
          <p:cNvSpPr txBox="1"/>
          <p:nvPr/>
        </p:nvSpPr>
        <p:spPr>
          <a:xfrm>
            <a:off x="731520" y="349300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Demo video</a:t>
            </a:r>
            <a:endParaRPr lang="en-US" sz="1800" dirty="0"/>
          </a:p>
        </p:txBody>
      </p:sp>
      <p:sp>
        <p:nvSpPr>
          <p:cNvPr id="6" name="Link 2 value"/>
          <p:cNvSpPr txBox="1"/>
          <p:nvPr/>
        </p:nvSpPr>
        <p:spPr>
          <a:xfrm>
            <a:off x="2834640" y="3493008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[TODO: video URL]</a:t>
            </a:r>
            <a:endParaRPr lang="en-US" sz="1800" dirty="0"/>
          </a:p>
        </p:txBody>
      </p:sp>
      <p:sp>
        <p:nvSpPr>
          <p:cNvPr id="7" name="Link 3 label"/>
          <p:cNvSpPr txBox="1"/>
          <p:nvPr/>
        </p:nvSpPr>
        <p:spPr>
          <a:xfrm>
            <a:off x="731520" y="4059936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Live app</a:t>
            </a:r>
            <a:endParaRPr lang="en-US" sz="1800" dirty="0"/>
          </a:p>
        </p:txBody>
      </p:sp>
      <p:sp>
        <p:nvSpPr>
          <p:cNvPr id="8" name="Link 3 value"/>
          <p:cNvSpPr txBox="1"/>
          <p:nvPr/>
        </p:nvSpPr>
        <p:spPr>
          <a:xfrm>
            <a:off x="2834640" y="4059936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[TODO: live URL]</a:t>
            </a:r>
            <a:endParaRPr lang="en-US" sz="1800" dirty="0"/>
          </a:p>
        </p:txBody>
      </p:sp>
      <p:sp>
        <p:nvSpPr>
          <p:cNvPr id="9" name="Link 4 label"/>
          <p:cNvSpPr txBox="1"/>
          <p:nvPr/>
        </p:nvSpPr>
        <p:spPr>
          <a:xfrm>
            <a:off x="731520" y="4626864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Devpost</a:t>
            </a:r>
            <a:endParaRPr lang="en-US" sz="1800" dirty="0"/>
          </a:p>
        </p:txBody>
      </p:sp>
      <p:sp>
        <p:nvSpPr>
          <p:cNvPr id="10" name="Link 4 value"/>
          <p:cNvSpPr txBox="1"/>
          <p:nvPr/>
        </p:nvSpPr>
        <p:spPr>
          <a:xfrm>
            <a:off x="2834640" y="4626864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[TODO: Devpost URL]</a:t>
            </a:r>
            <a:endParaRPr lang="en-US" sz="1800" dirty="0"/>
          </a:p>
        </p:txBody>
      </p:sp>
      <p:sp>
        <p:nvSpPr>
          <p:cNvPr id="11" name="Link 5 label"/>
          <p:cNvSpPr txBox="1"/>
          <p:nvPr/>
        </p:nvSpPr>
        <p:spPr>
          <a:xfrm>
            <a:off x="731520" y="519379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License</a:t>
            </a:r>
            <a:endParaRPr lang="en-US" sz="1800" dirty="0"/>
          </a:p>
        </p:txBody>
      </p:sp>
      <p:sp>
        <p:nvSpPr>
          <p:cNvPr id="12" name="Link 5 value"/>
          <p:cNvSpPr txBox="1"/>
          <p:nvPr/>
        </p:nvSpPr>
        <p:spPr>
          <a:xfrm>
            <a:off x="2834640" y="5193792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MIT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ugLens">
  <a:themeElements>
    <a:clrScheme name="BugLens">
      <a:dk1>
        <a:srgbClr val="12262B"/>
      </a:dk1>
      <a:lt1>
        <a:srgbClr val="FFFFFF"/>
      </a:lt1>
      <a:dk2>
        <a:srgbClr val="0B5D63"/>
      </a:dk2>
      <a:lt2>
        <a:srgbClr val="E3F1EE"/>
      </a:lt2>
      <a:accent1>
        <a:srgbClr val="0E7C7B"/>
      </a:accent1>
      <a:accent2>
        <a:srgbClr val="F2A33A"/>
      </a:accent2>
      <a:accent3>
        <a:srgbClr val="17A398"/>
      </a:accent3>
      <a:accent4>
        <a:srgbClr val="C8502D"/>
      </a:accent4>
      <a:accent5>
        <a:srgbClr val="56696D"/>
      </a:accent5>
      <a:accent6>
        <a:srgbClr val="BFD9D3"/>
      </a:accent6>
      <a:hlink>
        <a:srgbClr val="0E7C7B"/>
      </a:hlink>
      <a:folHlink>
        <a:srgbClr val="56696D"/>
      </a:folHlink>
    </a:clrScheme>
    <a:fontScheme name="BugLen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BugLens documentation</dc:title>
  <dc:subject>Hackathon project documentation</dc:subject>
  <dc:creator>BugLens team</dc:creator>
  <cp:lastModifiedBy>BugLens team</cp:lastModifiedBy>
  <cp:revision>1</cp:revision>
  <dcterms:created xsi:type="dcterms:W3CDTF">2026-10-08T09:34:00Z</dcterms:created>
  <dcterms:modified xsi:type="dcterms:W3CDTF">2026-10-08T09:34:00Z</dcterms:modified>
</cp:coreProperties>
</file>